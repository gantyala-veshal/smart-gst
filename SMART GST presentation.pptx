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256" r:id="rId2"/>
    <p:sldId id="257" r:id="rId3"/>
    <p:sldId id="269" r:id="rId4"/>
    <p:sldId id="261" r:id="rId5"/>
    <p:sldId id="262" r:id="rId6"/>
    <p:sldId id="263" r:id="rId7"/>
    <p:sldId id="264" r:id="rId8"/>
    <p:sldId id="265" r:id="rId9"/>
    <p:sldId id="266" r:id="rId10"/>
    <p:sldId id="268" r:id="rId11"/>
    <p:sldId id="277" r:id="rId12"/>
    <p:sldId id="274" r:id="rId13"/>
    <p:sldId id="275" r:id="rId14"/>
    <p:sldId id="276" r:id="rId15"/>
    <p:sldId id="278" r:id="rId16"/>
    <p:sldId id="271" r:id="rId17"/>
    <p:sldId id="260" r:id="rId18"/>
  </p:sldIdLst>
  <p:sldSz cx="9902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19" userDrawn="1">
          <p15:clr>
            <a:srgbClr val="A4A3A4"/>
          </p15:clr>
        </p15:guide>
        <p15:guide id="2" orient="horz" pos="21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a:srgbClr val="FFB546"/>
    <a:srgbClr val="FF4337"/>
    <a:srgbClr val="00B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54F5F2-84B6-4AA4-B6F6-8C4E5965DF8F}" v="49" dt="2025-10-30T10:22:44.72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14" autoAdjust="0"/>
    <p:restoredTop sz="72205" autoAdjust="0"/>
  </p:normalViewPr>
  <p:slideViewPr>
    <p:cSldViewPr snapToGrid="0">
      <p:cViewPr>
        <p:scale>
          <a:sx n="75" d="100"/>
          <a:sy n="75" d="100"/>
        </p:scale>
        <p:origin x="1020" y="54"/>
      </p:cViewPr>
      <p:guideLst>
        <p:guide pos="3119"/>
        <p:guide orient="horz" pos="2183"/>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57C17-E6FD-4AF5-A787-31E9CCE99A85}" type="datetimeFigureOut">
              <a:rPr lang="ko-KR" altLang="en-US" smtClean="0"/>
              <a:t>2025-11-19</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C55F-00F1-4985-9065-F2D92AE05D03}" type="slidenum">
              <a:rPr lang="ko-KR" altLang="en-US" smtClean="0"/>
              <a:t>‹#›</a:t>
            </a:fld>
            <a:endParaRPr lang="ko-KR" altLang="en-US"/>
          </a:p>
        </p:txBody>
      </p:sp>
    </p:spTree>
    <p:extLst>
      <p:ext uri="{BB962C8B-B14F-4D97-AF65-F5344CB8AC3E}">
        <p14:creationId xmlns:p14="http://schemas.microsoft.com/office/powerpoint/2010/main" val="991253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
        <p:nvSpPr>
          <p:cNvPr id="7" name="직사각형 133">
            <a:extLst>
              <a:ext uri="{FF2B5EF4-FFF2-40B4-BE49-F238E27FC236}">
                <a16:creationId xmlns:a16="http://schemas.microsoft.com/office/drawing/2014/main" id="{DE8CAD59-3F29-4FBB-AE0A-697DDFD5E69E}"/>
              </a:ext>
            </a:extLst>
          </p:cNvPr>
          <p:cNvSpPr/>
          <p:nvPr userDrawn="1"/>
        </p:nvSpPr>
        <p:spPr>
          <a:xfrm>
            <a:off x="990000" y="4320000"/>
            <a:ext cx="583252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914400" latinLnBrk="1">
              <a:defRPr/>
            </a:pPr>
            <a:r>
              <a:rPr lang="en-US" altLang="ko-KR" sz="2400" dirty="0">
                <a:solidFill>
                  <a:srgbClr val="1428A0"/>
                </a:solidFill>
                <a:latin typeface="Samsung Sharp Sans" pitchFamily="2" charset="0"/>
                <a:ea typeface="Samsung Sharp Sans" pitchFamily="2" charset="0"/>
                <a:cs typeface="Samsung Sharp Sans" pitchFamily="2" charset="0"/>
              </a:rPr>
              <a:t>C&amp;P Course</a:t>
            </a:r>
            <a:endParaRPr lang="ko-KR" altLang="en-US" sz="2400" dirty="0">
              <a:solidFill>
                <a:srgbClr val="1428A0"/>
              </a:solidFill>
              <a:latin typeface="Samsung Sharp Sans" pitchFamily="2" charset="0"/>
              <a:ea typeface="Samsung Sharp Sans" pitchFamily="2" charset="0"/>
              <a:cs typeface="Samsung Sharp Sans" pitchFamily="2" charset="0"/>
            </a:endParaRPr>
          </a:p>
        </p:txBody>
      </p:sp>
      <p:sp>
        <p:nvSpPr>
          <p:cNvPr id="8" name="직사각형 7">
            <a:extLst>
              <a:ext uri="{FF2B5EF4-FFF2-40B4-BE49-F238E27FC236}">
                <a16:creationId xmlns:a16="http://schemas.microsoft.com/office/drawing/2014/main" id="{86149771-D78D-40D7-8B97-564358008D8D}"/>
              </a:ext>
            </a:extLst>
          </p:cNvPr>
          <p:cNvSpPr/>
          <p:nvPr userDrawn="1"/>
        </p:nvSpPr>
        <p:spPr>
          <a:xfrm>
            <a:off x="724689" y="4320000"/>
            <a:ext cx="54000" cy="360000"/>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1" name="텍스트 개체 틀 18">
            <a:extLst>
              <a:ext uri="{FF2B5EF4-FFF2-40B4-BE49-F238E27FC236}">
                <a16:creationId xmlns:a16="http://schemas.microsoft.com/office/drawing/2014/main" id="{02AC410D-7805-4DA9-915F-991D726861C7}"/>
              </a:ext>
            </a:extLst>
          </p:cNvPr>
          <p:cNvSpPr>
            <a:spLocks noGrp="1"/>
          </p:cNvSpPr>
          <p:nvPr>
            <p:ph type="body" sz="quarter" idx="11" hasCustomPrompt="1"/>
          </p:nvPr>
        </p:nvSpPr>
        <p:spPr>
          <a:xfrm>
            <a:off x="720000" y="3551768"/>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
        <p:nvSpPr>
          <p:cNvPr id="12" name="제목 2">
            <a:extLst>
              <a:ext uri="{FF2B5EF4-FFF2-40B4-BE49-F238E27FC236}">
                <a16:creationId xmlns:a16="http://schemas.microsoft.com/office/drawing/2014/main" id="{44AF0917-EEBC-44C5-8BA6-F1CA2AFA4B1E}"/>
              </a:ext>
            </a:extLst>
          </p:cNvPr>
          <p:cNvSpPr>
            <a:spLocks noGrp="1"/>
          </p:cNvSpPr>
          <p:nvPr>
            <p:ph type="title" hasCustomPrompt="1"/>
          </p:nvPr>
        </p:nvSpPr>
        <p:spPr>
          <a:xfrm>
            <a:off x="720000" y="1710000"/>
            <a:ext cx="5221019" cy="1477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8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r>
              <a:rPr lang="en-US" altLang="ko-KR" dirty="0"/>
              <a:t/>
            </a:r>
            <a:br>
              <a:rPr lang="en-US" altLang="ko-KR" dirty="0"/>
            </a:br>
            <a:r>
              <a:rPr lang="en-US" altLang="ko-KR" dirty="0"/>
              <a:t>Name</a:t>
            </a:r>
            <a:endParaRPr lang="ko-KR" altLang="en-US" dirty="0"/>
          </a:p>
        </p:txBody>
      </p:sp>
    </p:spTree>
    <p:extLst>
      <p:ext uri="{BB962C8B-B14F-4D97-AF65-F5344CB8AC3E}">
        <p14:creationId xmlns:p14="http://schemas.microsoft.com/office/powerpoint/2010/main" val="3327086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HAPTER">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15" name="텍스트 개체 틀 3">
            <a:extLst>
              <a:ext uri="{FF2B5EF4-FFF2-40B4-BE49-F238E27FC236}">
                <a16:creationId xmlns:a16="http://schemas.microsoft.com/office/drawing/2014/main" id="{AC93F9AC-4BB5-4E2D-8093-19270B267164}"/>
              </a:ext>
            </a:extLst>
          </p:cNvPr>
          <p:cNvSpPr>
            <a:spLocks noGrp="1"/>
          </p:cNvSpPr>
          <p:nvPr>
            <p:ph type="body" sz="quarter" idx="10" hasCustomPrompt="1"/>
          </p:nvPr>
        </p:nvSpPr>
        <p:spPr>
          <a:xfrm>
            <a:off x="985007" y="2524714"/>
            <a:ext cx="4616240" cy="1329932"/>
          </a:xfrm>
          <a:prstGeom prst="rect">
            <a:avLst/>
          </a:prstGeom>
        </p:spPr>
        <p:txBody>
          <a:bodyPr lIns="0" tIns="0" rIns="0" bIns="0" anchor="t"/>
          <a:lstStyle>
            <a:lvl1pPr marL="0" indent="0">
              <a:lnSpc>
                <a:spcPct val="100000"/>
              </a:lnSpc>
              <a:spcBef>
                <a:spcPts val="0"/>
              </a:spcBef>
              <a:buNone/>
              <a:defRPr sz="4399">
                <a:latin typeface="Samsung Sharp Sans"/>
              </a:defRPr>
            </a:lvl1pPr>
          </a:lstStyle>
          <a:p>
            <a:pPr lvl="0"/>
            <a:r>
              <a:rPr lang="en-US"/>
              <a:t>Title 1</a:t>
            </a:r>
          </a:p>
          <a:p>
            <a:pPr lvl="0"/>
            <a:r>
              <a:rPr lang="en-US"/>
              <a:t>Title 2</a:t>
            </a:r>
          </a:p>
        </p:txBody>
      </p:sp>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70"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3"/>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300" panose="020B0303030303020204" pitchFamily="34" charset="0"/>
                <a:ea typeface="SamsungOne-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843800"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400" panose="020B0503030303020204" pitchFamily="34" charset="0"/>
                <a:ea typeface="SamsungOne-400" panose="020B0503030303020204" pitchFamily="34" charset="0"/>
              </a:rPr>
              <a:pPr marL="0" marR="0" lvl="0" indent="0" algn="r" defTabSz="843800"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400" panose="020B0503030303020204" pitchFamily="34" charset="0"/>
              <a:ea typeface="SamsungOne-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5"/>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9" name="직사각형 8">
            <a:extLst>
              <a:ext uri="{FF2B5EF4-FFF2-40B4-BE49-F238E27FC236}">
                <a16:creationId xmlns:a16="http://schemas.microsoft.com/office/drawing/2014/main" id="{978045EE-4149-4D34-BDD0-4CED7F53CB86}"/>
              </a:ext>
            </a:extLst>
          </p:cNvPr>
          <p:cNvSpPr/>
          <p:nvPr userDrawn="1"/>
        </p:nvSpPr>
        <p:spPr>
          <a:xfrm>
            <a:off x="719769" y="2095280"/>
            <a:ext cx="59989" cy="1759369"/>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21914">
              <a:defRPr/>
            </a:pPr>
            <a:endParaRPr lang="ko-KR" altLang="en-US" sz="1662" dirty="0">
              <a:solidFill>
                <a:prstClr val="white"/>
              </a:solidFill>
              <a:latin typeface="Calibri" panose="020F0502020204030204"/>
              <a:ea typeface="맑은 고딕" panose="020B0503020000020004" pitchFamily="50" charset="-127"/>
            </a:endParaRPr>
          </a:p>
        </p:txBody>
      </p:sp>
      <p:sp>
        <p:nvSpPr>
          <p:cNvPr id="10" name="직사각형 9">
            <a:extLst>
              <a:ext uri="{FF2B5EF4-FFF2-40B4-BE49-F238E27FC236}">
                <a16:creationId xmlns:a16="http://schemas.microsoft.com/office/drawing/2014/main" id="{5D8DECC6-E1CF-42DF-AFF2-431EEB2BDEB9}"/>
              </a:ext>
            </a:extLst>
          </p:cNvPr>
          <p:cNvSpPr/>
          <p:nvPr userDrawn="1"/>
        </p:nvSpPr>
        <p:spPr>
          <a:xfrm>
            <a:off x="719769" y="4157762"/>
            <a:ext cx="59989"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21914">
              <a:defRPr/>
            </a:pPr>
            <a:endParaRPr lang="ko-KR" altLang="en-US" sz="1662" dirty="0">
              <a:solidFill>
                <a:prstClr val="white"/>
              </a:solidFill>
              <a:latin typeface="Calibri" panose="020F0502020204030204"/>
              <a:ea typeface="맑은 고딕" panose="020B0503020000020004" pitchFamily="50" charset="-127"/>
            </a:endParaRPr>
          </a:p>
        </p:txBody>
      </p:sp>
      <p:sp>
        <p:nvSpPr>
          <p:cNvPr id="21" name="텍스트 개체 틀 19">
            <a:extLst>
              <a:ext uri="{FF2B5EF4-FFF2-40B4-BE49-F238E27FC236}">
                <a16:creationId xmlns:a16="http://schemas.microsoft.com/office/drawing/2014/main" id="{99B695B2-CFFD-4F01-8492-DC3B0949AD42}"/>
              </a:ext>
            </a:extLst>
          </p:cNvPr>
          <p:cNvSpPr>
            <a:spLocks noGrp="1"/>
          </p:cNvSpPr>
          <p:nvPr>
            <p:ph type="body" sz="quarter" idx="12" hasCustomPrompt="1"/>
          </p:nvPr>
        </p:nvSpPr>
        <p:spPr>
          <a:xfrm>
            <a:off x="985007" y="2066881"/>
            <a:ext cx="5475500" cy="310896"/>
          </a:xfrm>
          <a:prstGeom prst="rect">
            <a:avLst/>
          </a:prstGeom>
        </p:spPr>
        <p:txBody>
          <a:bodyPr lIns="0" tIns="0" rIns="0" anchor="ctr"/>
          <a:lstStyle>
            <a:lvl1pPr marL="0" indent="0">
              <a:lnSpc>
                <a:spcPct val="100000"/>
              </a:lnSpc>
              <a:spcBef>
                <a:spcPts val="0"/>
              </a:spcBef>
              <a:buNone/>
              <a:defRPr sz="1999">
                <a:solidFill>
                  <a:schemeClr val="bg1">
                    <a:lumMod val="50000"/>
                  </a:schemeClr>
                </a:solidFill>
                <a:latin typeface="Samsung Sharp Sans"/>
              </a:defRPr>
            </a:lvl1pPr>
          </a:lstStyle>
          <a:p>
            <a:pPr lvl="0"/>
            <a:r>
              <a:rPr lang="en-US"/>
              <a:t>Chapter 1.</a:t>
            </a:r>
          </a:p>
        </p:txBody>
      </p:sp>
      <p:sp>
        <p:nvSpPr>
          <p:cNvPr id="18" name="직사각형 133">
            <a:extLst>
              <a:ext uri="{FF2B5EF4-FFF2-40B4-BE49-F238E27FC236}">
                <a16:creationId xmlns:a16="http://schemas.microsoft.com/office/drawing/2014/main" id="{E9FB640B-46E8-4BA3-B89E-CF58C8027238}"/>
              </a:ext>
            </a:extLst>
          </p:cNvPr>
          <p:cNvSpPr/>
          <p:nvPr userDrawn="1"/>
        </p:nvSpPr>
        <p:spPr>
          <a:xfrm>
            <a:off x="989683" y="4157822"/>
            <a:ext cx="2631915" cy="3230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063">
              <a:defRPr/>
            </a:pPr>
            <a:r>
              <a:rPr lang="en-US" altLang="ko-KR" sz="2000" dirty="0">
                <a:solidFill>
                  <a:srgbClr val="1428A0"/>
                </a:solidFill>
                <a:latin typeface="Samsung Sharp Sans" pitchFamily="2" charset="0"/>
                <a:ea typeface="Samsung Sharp Sans" pitchFamily="2" charset="0"/>
                <a:cs typeface="Samsung Sharp Sans" pitchFamily="2" charset="0"/>
              </a:rPr>
              <a:t>C&amp;P</a:t>
            </a:r>
            <a:r>
              <a:rPr lang="en-US" altLang="ko-KR" sz="2099" dirty="0">
                <a:solidFill>
                  <a:srgbClr val="1428A0"/>
                </a:solidFill>
                <a:latin typeface="Samsung Sharp Sans"/>
                <a:ea typeface="Samsung Sharp Sans Regular" pitchFamily="2" charset="0"/>
                <a:cs typeface="Samsung Sharp Sans Regular" pitchFamily="2" charset="0"/>
              </a:rPr>
              <a:t> Course</a:t>
            </a:r>
            <a:endParaRPr lang="ko-KR" altLang="en-US" sz="2099" dirty="0">
              <a:solidFill>
                <a:srgbClr val="1428A0"/>
              </a:solidFill>
              <a:latin typeface="Samsung Sharp Sans"/>
              <a:ea typeface="Samsung Sharp Sans Regular" pitchFamily="2" charset="0"/>
              <a:cs typeface="Samsung Sharp Sans Regular" pitchFamily="2" charset="0"/>
            </a:endParaRPr>
          </a:p>
        </p:txBody>
      </p:sp>
    </p:spTree>
    <p:extLst>
      <p:ext uri="{BB962C8B-B14F-4D97-AF65-F5344CB8AC3E}">
        <p14:creationId xmlns:p14="http://schemas.microsoft.com/office/powerpoint/2010/main" val="1661294841"/>
      </p:ext>
    </p:extLst>
  </p:cSld>
  <p:clrMapOvr>
    <a:masterClrMapping/>
  </p:clrMapOvr>
  <p:extLst>
    <p:ext uri="{DCECCB84-F9BA-43D5-87BE-67443E8EF086}">
      <p15:sldGuideLst xmlns:p15="http://schemas.microsoft.com/office/powerpoint/2012/main">
        <p15:guide id="1" orient="horz" pos="2160">
          <p15:clr>
            <a:srgbClr val="FBAE40"/>
          </p15:clr>
        </p15:guide>
        <p15:guide id="2" pos="614">
          <p15:clr>
            <a:srgbClr val="FBAE40"/>
          </p15:clr>
        </p15:guide>
        <p15:guide id="3" pos="44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3" name="제목 2">
            <a:extLst>
              <a:ext uri="{FF2B5EF4-FFF2-40B4-BE49-F238E27FC236}">
                <a16:creationId xmlns:a16="http://schemas.microsoft.com/office/drawing/2014/main" id="{4625E1FE-2B04-4D8E-A51A-6B9CEC7B3790}"/>
              </a:ext>
            </a:extLst>
          </p:cNvPr>
          <p:cNvSpPr>
            <a:spLocks noGrp="1"/>
          </p:cNvSpPr>
          <p:nvPr>
            <p:ph type="title" hasCustomPrompt="1"/>
          </p:nvPr>
        </p:nvSpPr>
        <p:spPr>
          <a:xfrm>
            <a:off x="449468" y="1440000"/>
            <a:ext cx="854118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spcBef>
                <a:spcPts val="0"/>
              </a:spcBef>
              <a:defRPr lang="ko-KR" altLang="en-US" sz="3200">
                <a:solidFill>
                  <a:schemeClr val="tx1">
                    <a:lumMod val="95000"/>
                    <a:lumOff val="5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Slide Title</a:t>
            </a:r>
            <a:endParaRPr lang="ko-KR" altLang="en-US" dirty="0"/>
          </a:p>
        </p:txBody>
      </p:sp>
      <p:sp>
        <p:nvSpPr>
          <p:cNvPr id="19" name="텍스트 개체 틀 18">
            <a:extLst>
              <a:ext uri="{FF2B5EF4-FFF2-40B4-BE49-F238E27FC236}">
                <a16:creationId xmlns:a16="http://schemas.microsoft.com/office/drawing/2014/main" id="{DFEC8C6A-D95C-4B3C-9803-6F9071BF0C29}"/>
              </a:ext>
            </a:extLst>
          </p:cNvPr>
          <p:cNvSpPr>
            <a:spLocks noGrp="1"/>
          </p:cNvSpPr>
          <p:nvPr>
            <p:ph type="body" sz="quarter" idx="10" hasCustomPrompt="1"/>
          </p:nvPr>
        </p:nvSpPr>
        <p:spPr>
          <a:xfrm>
            <a:off x="449468" y="450000"/>
            <a:ext cx="323896"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No</a:t>
            </a:r>
            <a:endParaRPr lang="ko-KR" altLang="en-US" dirty="0"/>
          </a:p>
        </p:txBody>
      </p:sp>
      <p:sp>
        <p:nvSpPr>
          <p:cNvPr id="20" name="텍스트 개체 틀 18">
            <a:extLst>
              <a:ext uri="{FF2B5EF4-FFF2-40B4-BE49-F238E27FC236}">
                <a16:creationId xmlns:a16="http://schemas.microsoft.com/office/drawing/2014/main" id="{6DA22BCA-E7E2-4377-AD8E-AC1336C3DB31}"/>
              </a:ext>
            </a:extLst>
          </p:cNvPr>
          <p:cNvSpPr>
            <a:spLocks noGrp="1"/>
          </p:cNvSpPr>
          <p:nvPr>
            <p:ph type="body" sz="quarter" idx="11" hasCustomPrompt="1"/>
          </p:nvPr>
        </p:nvSpPr>
        <p:spPr>
          <a:xfrm>
            <a:off x="790000" y="450001"/>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Bold" pitchFamily="2" charset="0"/>
                <a:ea typeface="Samsung Sharp Sans Bold" pitchFamily="2" charset="0"/>
                <a:cs typeface="Samsung Sharp Sans Bold" pitchFamily="2" charset="0"/>
              </a:defRPr>
            </a:lvl1pPr>
          </a:lstStyle>
          <a:p>
            <a:pPr marL="0" lvl="0" defTabSz="457050" latinLnBrk="0"/>
            <a:r>
              <a:rPr lang="en-US" altLang="ko-KR" dirty="0"/>
              <a:t>Subtitle</a:t>
            </a:r>
            <a:endParaRPr lang="ko-KR" altLang="en-US" dirty="0"/>
          </a:p>
        </p:txBody>
      </p:sp>
      <p:sp>
        <p:nvSpPr>
          <p:cNvPr id="21" name="텍스트 개체 틀 18">
            <a:extLst>
              <a:ext uri="{FF2B5EF4-FFF2-40B4-BE49-F238E27FC236}">
                <a16:creationId xmlns:a16="http://schemas.microsoft.com/office/drawing/2014/main" id="{7647BD6A-5F13-45AE-859C-AF2BA0A739E6}"/>
              </a:ext>
            </a:extLst>
          </p:cNvPr>
          <p:cNvSpPr>
            <a:spLocks noGrp="1"/>
          </p:cNvSpPr>
          <p:nvPr>
            <p:ph type="body" sz="quarter" idx="12" hasCustomPrompt="1"/>
          </p:nvPr>
        </p:nvSpPr>
        <p:spPr>
          <a:xfrm>
            <a:off x="9112825" y="480779"/>
            <a:ext cx="340625" cy="246221"/>
          </a:xfrm>
          <a:prstGeom prst="rect">
            <a:avLst/>
          </a:prstGeom>
        </p:spPr>
        <p:txBody>
          <a:bodyPr wrap="square" lIns="0" tIns="0" rIns="0" bIns="0">
            <a:spAutoFit/>
          </a:bodyPr>
          <a:lstStyle>
            <a:lvl1pPr marL="0" indent="0" algn="r">
              <a:lnSpc>
                <a:spcPct val="100000"/>
              </a:lnSpc>
              <a:spcBef>
                <a:spcPts val="0"/>
              </a:spcBef>
              <a:buNone/>
              <a:defRPr lang="ko-KR" altLang="en-US" sz="1600" dirty="0">
                <a:solidFill>
                  <a:schemeClr val="bg1">
                    <a:lumMod val="85000"/>
                  </a:schemeClr>
                </a:solidFill>
                <a:latin typeface="Samsung Sharp Sans Bold" pitchFamily="2" charset="0"/>
                <a:ea typeface="Samsung Sharp Sans Bold" pitchFamily="2" charset="0"/>
                <a:cs typeface="Samsung Sharp Sans Bold" pitchFamily="2" charset="0"/>
              </a:defRPr>
            </a:lvl1pPr>
          </a:lstStyle>
          <a:p>
            <a:pPr marL="0" lvl="0" algn="r" defTabSz="457063" latinLnBrk="0"/>
            <a:r>
              <a:rPr lang="en-US" altLang="ko-KR" dirty="0"/>
              <a:t>00</a:t>
            </a:r>
            <a:endParaRPr lang="ko-KR" altLang="en-US" dirty="0"/>
          </a:p>
        </p:txBody>
      </p:sp>
      <p:sp>
        <p:nvSpPr>
          <p:cNvPr id="23" name="텍스트 개체 틀 18">
            <a:extLst>
              <a:ext uri="{FF2B5EF4-FFF2-40B4-BE49-F238E27FC236}">
                <a16:creationId xmlns:a16="http://schemas.microsoft.com/office/drawing/2014/main" id="{3A9667F7-80AD-4A7A-8543-285975B06BE3}"/>
              </a:ext>
            </a:extLst>
          </p:cNvPr>
          <p:cNvSpPr>
            <a:spLocks noGrp="1"/>
          </p:cNvSpPr>
          <p:nvPr>
            <p:ph type="body" sz="quarter" idx="13" hasCustomPrompt="1"/>
          </p:nvPr>
        </p:nvSpPr>
        <p:spPr>
          <a:xfrm>
            <a:off x="8740667" y="480779"/>
            <a:ext cx="46785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600" dirty="0">
                <a:solidFill>
                  <a:schemeClr val="bg1">
                    <a:lumMod val="85000"/>
                  </a:schemeClr>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UNIT</a:t>
            </a:r>
            <a:endParaRPr lang="ko-KR" altLang="en-US" dirty="0"/>
          </a:p>
        </p:txBody>
      </p:sp>
      <p:sp>
        <p:nvSpPr>
          <p:cNvPr id="16" name="텍스트 개체 틀 7">
            <a:extLst>
              <a:ext uri="{FF2B5EF4-FFF2-40B4-BE49-F238E27FC236}">
                <a16:creationId xmlns:a16="http://schemas.microsoft.com/office/drawing/2014/main" id="{B6D584F0-F100-4FB4-B935-0E81DB1D3B51}"/>
              </a:ext>
            </a:extLst>
          </p:cNvPr>
          <p:cNvSpPr>
            <a:spLocks noGrp="1"/>
          </p:cNvSpPr>
          <p:nvPr>
            <p:ph type="body" sz="quarter" idx="15" hasCustomPrompt="1"/>
          </p:nvPr>
        </p:nvSpPr>
        <p:spPr>
          <a:xfrm>
            <a:off x="522288" y="2221661"/>
            <a:ext cx="8055439" cy="914400"/>
          </a:xfrm>
          <a:prstGeom prst="rect">
            <a:avLst/>
          </a:prstGeom>
        </p:spPr>
        <p:txBody>
          <a:bodyPr lIns="0" tIns="0" rIns="0" bIns="0"/>
          <a:lstStyle>
            <a:lvl1pPr marL="177747" indent="-177747">
              <a:lnSpc>
                <a:spcPts val="1800"/>
              </a:lnSpc>
              <a:buSzPct val="105000"/>
              <a:buFontTx/>
              <a:buBlip>
                <a:blip r:embed="rId3"/>
              </a:buBlip>
              <a:defRPr kumimoji="1" lang="en-US" altLang="ko-KR" sz="1400" kern="120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1pPr>
            <a:lvl2pPr marL="360255" indent="-182508">
              <a:lnSpc>
                <a:spcPts val="1800"/>
              </a:lnSpc>
              <a:buSzPct val="80000"/>
              <a:buFontTx/>
              <a:buBlip>
                <a:blip r:embed="rId4"/>
              </a:buBlip>
              <a:tabLst>
                <a:tab pos="447541" algn="l"/>
              </a:tabLst>
              <a:defRPr lang="en-US" altLang="ko-KR" sz="1300" kern="1200" dirty="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2pPr>
          </a:lstStyle>
          <a:p>
            <a:pPr lvl="0"/>
            <a:r>
              <a:rPr lang="en-US" altLang="ko-KR" dirty="0"/>
              <a:t>Level1</a:t>
            </a:r>
          </a:p>
          <a:p>
            <a:pPr lvl="1"/>
            <a:r>
              <a:rPr lang="en-US" altLang="ko-KR" dirty="0"/>
              <a:t>Level2</a:t>
            </a:r>
          </a:p>
          <a:p>
            <a:pPr lvl="1"/>
            <a:endParaRPr lang="en-US" altLang="ko-KR" dirty="0"/>
          </a:p>
          <a:p>
            <a:pPr marL="628461" lvl="1" indent="-207901" algn="l" defTabSz="843830" rtl="0" eaLnBrk="1" latinLnBrk="1" hangingPunct="1">
              <a:lnSpc>
                <a:spcPct val="90000"/>
              </a:lnSpc>
              <a:spcBef>
                <a:spcPts val="462"/>
              </a:spcBef>
              <a:buSzPct val="90000"/>
              <a:buFontTx/>
              <a:buBlip>
                <a:blip r:embed="rId5"/>
              </a:buBlip>
            </a:pPr>
            <a:endParaRPr lang="en-US" altLang="ko-KR" dirty="0"/>
          </a:p>
          <a:p>
            <a:pPr lvl="1"/>
            <a:endParaRPr lang="ko-KR" altLang="en-US" dirty="0"/>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766334290"/>
      </p:ext>
    </p:extLst>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2021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35336152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4792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6" r:id="rId3"/>
    <p:sldLayoutId id="2147483677" r:id="rId4"/>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3816">
          <p15:clr>
            <a:srgbClr val="F26B43"/>
          </p15:clr>
        </p15:guide>
        <p15:guide id="1" orient="horz" pos="3997">
          <p15:clr>
            <a:srgbClr val="F26B43"/>
          </p15:clr>
        </p15:guide>
        <p15:guide id="2" pos="352">
          <p15:clr>
            <a:srgbClr val="F26B43"/>
          </p15:clr>
        </p15:guide>
        <p15:guide id="3" pos="5886">
          <p15:clr>
            <a:srgbClr val="F26B43"/>
          </p15:clr>
        </p15:guide>
        <p15:guide id="4" orient="horz" pos="323">
          <p15:clr>
            <a:srgbClr val="F26B43"/>
          </p15:clr>
        </p15:guide>
        <p15:guide id="5" orient="horz" pos="222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51786819-9BFB-478D-BAE7-57DB1DEACF78}"/>
              </a:ext>
            </a:extLst>
          </p:cNvPr>
          <p:cNvSpPr>
            <a:spLocks noGrp="1"/>
          </p:cNvSpPr>
          <p:nvPr>
            <p:ph type="title"/>
          </p:nvPr>
        </p:nvSpPr>
        <p:spPr>
          <a:xfrm>
            <a:off x="720000" y="2532123"/>
            <a:ext cx="6419031" cy="1719000"/>
          </a:xfrm>
        </p:spPr>
        <p:txBody>
          <a:bodyPr/>
          <a:lstStyle/>
          <a:p>
            <a:r>
              <a:rPr lang="en-US" altLang="ko-KR" dirty="0"/>
              <a:t>Samsung Innovation Campus</a:t>
            </a:r>
          </a:p>
        </p:txBody>
      </p:sp>
    </p:spTree>
    <p:extLst>
      <p:ext uri="{BB962C8B-B14F-4D97-AF65-F5344CB8AC3E}">
        <p14:creationId xmlns:p14="http://schemas.microsoft.com/office/powerpoint/2010/main" val="3113136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F7F44C61-D919-4428-8B7A-D05C22D2BCAE}"/>
              </a:ext>
            </a:extLst>
          </p:cNvPr>
          <p:cNvSpPr>
            <a:spLocks noGrp="1"/>
          </p:cNvSpPr>
          <p:nvPr>
            <p:ph type="body" sz="quarter" idx="10"/>
          </p:nvPr>
        </p:nvSpPr>
        <p:spPr>
          <a:xfrm>
            <a:off x="974725" y="2315279"/>
            <a:ext cx="8353759" cy="1329506"/>
          </a:xfrm>
        </p:spPr>
        <p:txBody>
          <a:bodyPr/>
          <a:lstStyle/>
          <a:p>
            <a:r>
              <a:rPr lang="en-US" sz="3200" dirty="0"/>
              <a:t>SMART GST – Intelligent GST Billing &amp; </a:t>
            </a:r>
            <a:r>
              <a:rPr lang="en-US" sz="3200" dirty="0" smtClean="0"/>
              <a:t>Fraud</a:t>
            </a:r>
          </a:p>
          <a:p>
            <a:r>
              <a:rPr lang="en-US" sz="3200" dirty="0" smtClean="0"/>
              <a:t> </a:t>
            </a:r>
            <a:r>
              <a:rPr lang="en-US" sz="3200" dirty="0"/>
              <a:t>Detection System</a:t>
            </a:r>
            <a:endParaRPr lang="en-US" altLang="ko-KR" sz="3200" dirty="0">
              <a:solidFill>
                <a:srgbClr val="193EB0"/>
              </a:solidFill>
            </a:endParaRPr>
          </a:p>
        </p:txBody>
      </p:sp>
      <p:sp>
        <p:nvSpPr>
          <p:cNvPr id="3" name="직사각형 133">
            <a:extLst>
              <a:ext uri="{FF2B5EF4-FFF2-40B4-BE49-F238E27FC236}">
                <a16:creationId xmlns:a16="http://schemas.microsoft.com/office/drawing/2014/main" id="{5BE4CBA7-B2DE-4D34-8EE6-EC228375E823}"/>
              </a:ext>
            </a:extLst>
          </p:cNvPr>
          <p:cNvSpPr/>
          <p:nvPr/>
        </p:nvSpPr>
        <p:spPr>
          <a:xfrm>
            <a:off x="974725" y="3499529"/>
            <a:ext cx="6460791" cy="5539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r>
              <a:rPr lang="en-US" altLang="ko-KR" dirty="0">
                <a:solidFill>
                  <a:schemeClr val="tx1"/>
                </a:solidFill>
                <a:latin typeface="Samsung Sharp Sans" pitchFamily="2" charset="0"/>
                <a:ea typeface="Samsung Sharp Sans" pitchFamily="2" charset="0"/>
                <a:cs typeface="Samsung Sharp Sans" pitchFamily="2" charset="0"/>
              </a:rPr>
              <a:t>Team Members:</a:t>
            </a:r>
          </a:p>
          <a:p>
            <a:r>
              <a:rPr lang="en-US" dirty="0" err="1" smtClean="0">
                <a:solidFill>
                  <a:schemeClr val="tx1"/>
                </a:solidFill>
              </a:rPr>
              <a:t>G.Veshal</a:t>
            </a:r>
            <a:r>
              <a:rPr lang="en-US" sz="1600" dirty="0" smtClean="0">
                <a:solidFill>
                  <a:schemeClr val="tx1"/>
                </a:solidFill>
              </a:rPr>
              <a:t>​, </a:t>
            </a:r>
            <a:r>
              <a:rPr lang="en-US" sz="1600" dirty="0" err="1" smtClean="0">
                <a:solidFill>
                  <a:schemeClr val="tx1"/>
                </a:solidFill>
              </a:rPr>
              <a:t>S.Likitha</a:t>
            </a:r>
            <a:r>
              <a:rPr lang="en-US" sz="1600" dirty="0" smtClean="0">
                <a:solidFill>
                  <a:schemeClr val="tx1"/>
                </a:solidFill>
              </a:rPr>
              <a:t>, </a:t>
            </a:r>
            <a:r>
              <a:rPr lang="en-US" sz="1600" dirty="0" err="1" smtClean="0">
                <a:solidFill>
                  <a:schemeClr val="tx1"/>
                </a:solidFill>
              </a:rPr>
              <a:t>Sruthi</a:t>
            </a:r>
            <a:r>
              <a:rPr lang="en-US" sz="1600" dirty="0" smtClean="0">
                <a:solidFill>
                  <a:schemeClr val="tx1"/>
                </a:solidFill>
              </a:rPr>
              <a:t> </a:t>
            </a:r>
            <a:r>
              <a:rPr lang="en-US" sz="1600" dirty="0" err="1" smtClean="0">
                <a:solidFill>
                  <a:schemeClr val="tx1"/>
                </a:solidFill>
              </a:rPr>
              <a:t>Jadhav</a:t>
            </a:r>
            <a:r>
              <a:rPr lang="en-US" sz="1600" dirty="0" smtClean="0">
                <a:solidFill>
                  <a:schemeClr val="tx1"/>
                </a:solidFill>
              </a:rPr>
              <a:t>, </a:t>
            </a:r>
            <a:r>
              <a:rPr lang="en-US" sz="1600" dirty="0" err="1" smtClean="0">
                <a:solidFill>
                  <a:schemeClr val="tx1"/>
                </a:solidFill>
              </a:rPr>
              <a:t>Y.Kavya</a:t>
            </a:r>
            <a:r>
              <a:rPr lang="en-US" sz="1600" dirty="0" smtClean="0">
                <a:solidFill>
                  <a:schemeClr val="tx1"/>
                </a:solidFill>
              </a:rPr>
              <a:t> Reddy, </a:t>
            </a:r>
            <a:r>
              <a:rPr lang="en-US" sz="1600" dirty="0" err="1" smtClean="0">
                <a:solidFill>
                  <a:schemeClr val="tx1"/>
                </a:solidFill>
              </a:rPr>
              <a:t>V.Vijayalakshmi</a:t>
            </a:r>
            <a:endParaRPr lang="en-US" altLang="ko-KR" sz="1600" dirty="0">
              <a:solidFill>
                <a:schemeClr val="tx1"/>
              </a:solidFill>
              <a:latin typeface="Samsung Sharp Sans" pitchFamily="2" charset="0"/>
              <a:ea typeface="Samsung Sharp Sans" pitchFamily="2" charset="0"/>
              <a:cs typeface="Samsung Sharp Sans" pitchFamily="2" charset="0"/>
            </a:endParaRPr>
          </a:p>
        </p:txBody>
      </p:sp>
      <p:sp>
        <p:nvSpPr>
          <p:cNvPr id="5" name="직사각형 38">
            <a:extLst>
              <a:ext uri="{FF2B5EF4-FFF2-40B4-BE49-F238E27FC236}">
                <a16:creationId xmlns:a16="http://schemas.microsoft.com/office/drawing/2014/main" id="{22A5D878-2035-24F4-8B71-657A7D86FE8A}"/>
              </a:ext>
            </a:extLst>
          </p:cNvPr>
          <p:cNvSpPr/>
          <p:nvPr/>
        </p:nvSpPr>
        <p:spPr>
          <a:xfrm>
            <a:off x="722578" y="3831832"/>
            <a:ext cx="55464" cy="443390"/>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sz="2800"/>
          </a:p>
        </p:txBody>
      </p:sp>
    </p:spTree>
    <p:extLst>
      <p:ext uri="{BB962C8B-B14F-4D97-AF65-F5344CB8AC3E}">
        <p14:creationId xmlns:p14="http://schemas.microsoft.com/office/powerpoint/2010/main" val="3996991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4908-785D-CF8D-D351-A082BC7D818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0F06E8C-9EEF-ACE0-A311-28C3888C8C4D}"/>
              </a:ext>
            </a:extLst>
          </p:cNvPr>
          <p:cNvSpPr>
            <a:spLocks noGrp="1"/>
          </p:cNvSpPr>
          <p:nvPr>
            <p:ph type="title"/>
          </p:nvPr>
        </p:nvSpPr>
        <p:spPr>
          <a:xfrm>
            <a:off x="522288" y="1479980"/>
            <a:ext cx="7530823" cy="369332"/>
          </a:xfrm>
        </p:spPr>
        <p:txBody>
          <a:bodyPr/>
          <a:lstStyle/>
          <a:p>
            <a:r>
              <a:rPr lang="en-IN" altLang="ko-KR" sz="2400" dirty="0"/>
              <a:t>INTRODUCTION </a:t>
            </a:r>
            <a:endParaRPr lang="ko-KR" altLang="en-US" sz="2400" dirty="0"/>
          </a:p>
        </p:txBody>
      </p:sp>
      <p:sp>
        <p:nvSpPr>
          <p:cNvPr id="14" name="제목 1">
            <a:extLst>
              <a:ext uri="{FF2B5EF4-FFF2-40B4-BE49-F238E27FC236}">
                <a16:creationId xmlns:a16="http://schemas.microsoft.com/office/drawing/2014/main" id="{465C7105-064C-37A9-A413-547E0024ACA8}"/>
              </a:ext>
            </a:extLst>
          </p:cNvPr>
          <p:cNvSpPr txBox="1">
            <a:spLocks/>
          </p:cNvSpPr>
          <p:nvPr/>
        </p:nvSpPr>
        <p:spPr>
          <a:xfrm>
            <a:off x="365108" y="125762"/>
            <a:ext cx="8541187" cy="1538883"/>
          </a:xfrm>
          <a:prstGeom prst="rect">
            <a:avLst/>
          </a:prstGeom>
          <a:noFill/>
          <a:ln w="12700" cap="flat" cmpd="sng" algn="ctr">
            <a:noFill/>
            <a:prstDash val="solid"/>
            <a:miter lim="800000"/>
          </a:ln>
          <a:effectLst/>
        </p:spPr>
        <p:txBody>
          <a:bodyPr wrap="square" lIns="0" tIns="0" rIns="0" bIns="0" rtlCol="0" anchor="t">
            <a:spAutoFit/>
            <a:scene3d>
              <a:camera prst="orthographicFront"/>
              <a:lightRig rig="threePt" dir="t"/>
            </a:scene3d>
            <a:sp3d>
              <a:bevelT w="0" h="6350"/>
            </a:sp3d>
          </a:bodyPr>
          <a:lstStyle>
            <a:lvl1pPr algn="l" defTabSz="914400" rtl="0" eaLnBrk="1" latinLnBrk="1" hangingPunct="1">
              <a:lnSpc>
                <a:spcPct val="100000"/>
              </a:lnSpc>
              <a:spcBef>
                <a:spcPts val="0"/>
              </a:spcBef>
              <a:buNone/>
              <a:defRPr lang="ko-KR" altLang="en-US" sz="3200" kern="1200">
                <a:solidFill>
                  <a:schemeClr val="tx1">
                    <a:lumMod val="95000"/>
                    <a:lumOff val="5000"/>
                  </a:schemeClr>
                </a:solidFill>
                <a:latin typeface="Samsung Sharp Sans" pitchFamily="2" charset="0"/>
                <a:ea typeface="Samsung Sharp Sans" pitchFamily="2" charset="0"/>
                <a:cs typeface="Samsung Sharp Sans"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400" dirty="0">
                <a:solidFill>
                  <a:schemeClr val="bg1"/>
                </a:solidFill>
              </a:rPr>
              <a:t>SMART GST – Intelligent GST Billing &amp; Fraud</a:t>
            </a:r>
          </a:p>
          <a:p>
            <a:r>
              <a:rPr lang="en-US" sz="2400" dirty="0">
                <a:solidFill>
                  <a:schemeClr val="bg1"/>
                </a:solidFill>
              </a:rPr>
              <a:t> Detection System</a:t>
            </a:r>
            <a:endParaRPr lang="en-US" altLang="ko-KR" sz="2400" dirty="0">
              <a:solidFill>
                <a:schemeClr val="bg1"/>
              </a:solidFill>
            </a:endParaRPr>
          </a:p>
          <a:p>
            <a:r>
              <a:rPr lang="en-US" sz="2400" dirty="0" smtClean="0">
                <a:solidFill>
                  <a:schemeClr val="bg1"/>
                </a:solidFill>
              </a:rPr>
              <a:t>​</a:t>
            </a:r>
            <a:endParaRPr lang="en-US" altLang="ko-KR" sz="2400" dirty="0" smtClean="0">
              <a:solidFill>
                <a:schemeClr val="bg1"/>
              </a:solidFill>
            </a:endParaRPr>
          </a:p>
          <a:p>
            <a:r>
              <a:rPr lang="en-US" sz="2800" dirty="0" smtClean="0">
                <a:solidFill>
                  <a:schemeClr val="bg1"/>
                </a:solidFill>
              </a:rPr>
              <a:t>MEDLEAF </a:t>
            </a:r>
            <a:r>
              <a:rPr lang="en-US" sz="2800" dirty="0">
                <a:solidFill>
                  <a:schemeClr val="bg1"/>
                </a:solidFill>
              </a:rPr>
              <a:t>AN AI BASED SYSTEM</a:t>
            </a:r>
          </a:p>
        </p:txBody>
      </p:sp>
      <p:sp>
        <p:nvSpPr>
          <p:cNvPr id="4" name="직사각형 38">
            <a:extLst>
              <a:ext uri="{FF2B5EF4-FFF2-40B4-BE49-F238E27FC236}">
                <a16:creationId xmlns:a16="http://schemas.microsoft.com/office/drawing/2014/main" id="{42444E57-0982-829C-2E50-76A6BEB626E8}"/>
              </a:ext>
            </a:extLst>
          </p:cNvPr>
          <p:cNvSpPr/>
          <p:nvPr/>
        </p:nvSpPr>
        <p:spPr>
          <a:xfrm>
            <a:off x="297462" y="1433813"/>
            <a:ext cx="67646" cy="461665"/>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sz="2800"/>
          </a:p>
        </p:txBody>
      </p:sp>
      <p:sp>
        <p:nvSpPr>
          <p:cNvPr id="3" name="TextBox 2">
            <a:extLst>
              <a:ext uri="{FF2B5EF4-FFF2-40B4-BE49-F238E27FC236}">
                <a16:creationId xmlns:a16="http://schemas.microsoft.com/office/drawing/2014/main" id="{6FE8AC72-7435-19C6-9C21-83279C0CFE38}"/>
              </a:ext>
            </a:extLst>
          </p:cNvPr>
          <p:cNvSpPr txBox="1"/>
          <p:nvPr/>
        </p:nvSpPr>
        <p:spPr>
          <a:xfrm>
            <a:off x="449467" y="2302042"/>
            <a:ext cx="8541187" cy="2862322"/>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defRPr/>
            </a:pPr>
            <a:r>
              <a:rPr lang="en-GB" sz="2000" dirty="0">
                <a:latin typeface="Times New Roman" panose="02020603050405020304" pitchFamily="18" charset="0"/>
                <a:cs typeface="Times New Roman" panose="02020603050405020304" pitchFamily="18" charset="0"/>
              </a:rPr>
              <a:t> </a:t>
            </a:r>
            <a:r>
              <a:rPr lang="en-US" sz="2000" dirty="0"/>
              <a:t>SMART GST is a web-based intelligent billing system designed to automate GST calculation, invoice generation, and fraud </a:t>
            </a:r>
            <a:r>
              <a:rPr lang="en-US" sz="2000" dirty="0" smtClean="0"/>
              <a:t>detection.</a:t>
            </a:r>
          </a:p>
          <a:p>
            <a:pPr marL="342900" indent="-342900" algn="just">
              <a:lnSpc>
                <a:spcPct val="150000"/>
              </a:lnSpc>
              <a:buFont typeface="Arial" panose="020B0604020202020204" pitchFamily="34" charset="0"/>
              <a:buChar char="•"/>
              <a:defRPr/>
            </a:pPr>
            <a:r>
              <a:rPr lang="en-US" sz="2000" dirty="0" smtClean="0"/>
              <a:t>It </a:t>
            </a:r>
            <a:r>
              <a:rPr lang="en-US" sz="2000" dirty="0"/>
              <a:t>simplifies billing by providing accurate GST insights through smart logic, voice input, and instant PDF </a:t>
            </a:r>
            <a:r>
              <a:rPr lang="en-US" sz="2000" dirty="0" smtClean="0"/>
              <a:t>invoices.</a:t>
            </a:r>
          </a:p>
          <a:p>
            <a:pPr marL="342900" indent="-342900" algn="just">
              <a:lnSpc>
                <a:spcPct val="150000"/>
              </a:lnSpc>
              <a:buFont typeface="Arial" panose="020B0604020202020204" pitchFamily="34" charset="0"/>
              <a:buChar char="•"/>
              <a:defRPr/>
            </a:pPr>
            <a:r>
              <a:rPr lang="en-US" sz="2000" dirty="0" smtClean="0"/>
              <a:t>The </a:t>
            </a:r>
            <a:r>
              <a:rPr lang="en-US" sz="2000" dirty="0"/>
              <a:t>system ensures transparency and prevents overcharging, making GST billing faster, reliable, and user-friendly.</a:t>
            </a:r>
            <a:endParaRPr lang="en-US" sz="2000" dirty="0"/>
          </a:p>
        </p:txBody>
      </p:sp>
    </p:spTree>
    <p:extLst>
      <p:ext uri="{BB962C8B-B14F-4D97-AF65-F5344CB8AC3E}">
        <p14:creationId xmlns:p14="http://schemas.microsoft.com/office/powerpoint/2010/main" val="1400406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E5D4-73DE-4F49-0997-FA1C484959C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599A8C4-6EDA-557D-529F-938C2471A0FD}"/>
              </a:ext>
            </a:extLst>
          </p:cNvPr>
          <p:cNvSpPr>
            <a:spLocks noGrp="1"/>
          </p:cNvSpPr>
          <p:nvPr>
            <p:ph type="title"/>
          </p:nvPr>
        </p:nvSpPr>
        <p:spPr>
          <a:xfrm>
            <a:off x="449467" y="1510756"/>
            <a:ext cx="7530823" cy="369332"/>
          </a:xfrm>
        </p:spPr>
        <p:txBody>
          <a:bodyPr/>
          <a:lstStyle/>
          <a:p>
            <a:r>
              <a:rPr lang="en-IN" altLang="en-US" sz="2400" dirty="0"/>
              <a:t>TEAM CONTRIBUTION</a:t>
            </a:r>
            <a:endParaRPr lang="ko-KR" altLang="en-US" sz="2400" dirty="0"/>
          </a:p>
        </p:txBody>
      </p:sp>
      <p:sp>
        <p:nvSpPr>
          <p:cNvPr id="14" name="제목 1">
            <a:extLst>
              <a:ext uri="{FF2B5EF4-FFF2-40B4-BE49-F238E27FC236}">
                <a16:creationId xmlns:a16="http://schemas.microsoft.com/office/drawing/2014/main" id="{74203F49-A777-8F10-2E39-50B0D080A277}"/>
              </a:ext>
            </a:extLst>
          </p:cNvPr>
          <p:cNvSpPr txBox="1">
            <a:spLocks/>
          </p:cNvSpPr>
          <p:nvPr/>
        </p:nvSpPr>
        <p:spPr>
          <a:xfrm>
            <a:off x="449467" y="199895"/>
            <a:ext cx="8541187" cy="1169551"/>
          </a:xfrm>
          <a:prstGeom prst="rect">
            <a:avLst/>
          </a:prstGeom>
          <a:noFill/>
          <a:ln w="12700" cap="flat" cmpd="sng" algn="ctr">
            <a:noFill/>
            <a:prstDash val="solid"/>
            <a:miter lim="800000"/>
          </a:ln>
          <a:effectLst/>
        </p:spPr>
        <p:txBody>
          <a:bodyPr wrap="square" lIns="0" tIns="0" rIns="0" bIns="0" rtlCol="0" anchor="t">
            <a:spAutoFit/>
            <a:scene3d>
              <a:camera prst="orthographicFront"/>
              <a:lightRig rig="threePt" dir="t"/>
            </a:scene3d>
            <a:sp3d>
              <a:bevelT w="0" h="6350"/>
            </a:sp3d>
          </a:bodyPr>
          <a:lstStyle>
            <a:lvl1pPr algn="l" defTabSz="914400" rtl="0" eaLnBrk="1" latinLnBrk="1" hangingPunct="1">
              <a:lnSpc>
                <a:spcPct val="100000"/>
              </a:lnSpc>
              <a:spcBef>
                <a:spcPts val="0"/>
              </a:spcBef>
              <a:buNone/>
              <a:defRPr lang="ko-KR" altLang="en-US" sz="3200" kern="1200">
                <a:solidFill>
                  <a:schemeClr val="tx1">
                    <a:lumMod val="95000"/>
                    <a:lumOff val="5000"/>
                  </a:schemeClr>
                </a:solidFill>
                <a:latin typeface="Samsung Sharp Sans" pitchFamily="2" charset="0"/>
                <a:ea typeface="Samsung Sharp Sans" pitchFamily="2" charset="0"/>
                <a:cs typeface="Samsung Sharp Sans"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400" dirty="0">
                <a:solidFill>
                  <a:schemeClr val="bg1">
                    <a:lumMod val="95000"/>
                  </a:schemeClr>
                </a:solidFill>
              </a:rPr>
              <a:t>SMART GST – Intelligent GST Billing &amp; Fraud</a:t>
            </a:r>
          </a:p>
          <a:p>
            <a:r>
              <a:rPr lang="en-US" sz="2400" dirty="0">
                <a:solidFill>
                  <a:schemeClr val="bg1">
                    <a:lumMod val="95000"/>
                  </a:schemeClr>
                </a:solidFill>
              </a:rPr>
              <a:t> Detection System</a:t>
            </a:r>
            <a:endParaRPr lang="en-US" altLang="ko-KR" sz="2400" dirty="0">
              <a:solidFill>
                <a:schemeClr val="bg1">
                  <a:lumMod val="95000"/>
                </a:schemeClr>
              </a:solidFill>
            </a:endParaRPr>
          </a:p>
          <a:p>
            <a:endParaRPr lang="en-US" sz="2800" dirty="0">
              <a:solidFill>
                <a:schemeClr val="bg1">
                  <a:lumMod val="95000"/>
                </a:schemeClr>
              </a:solidFill>
            </a:endParaRPr>
          </a:p>
        </p:txBody>
      </p:sp>
      <p:sp>
        <p:nvSpPr>
          <p:cNvPr id="4" name="직사각형 38">
            <a:extLst>
              <a:ext uri="{FF2B5EF4-FFF2-40B4-BE49-F238E27FC236}">
                <a16:creationId xmlns:a16="http://schemas.microsoft.com/office/drawing/2014/main" id="{AB7A98A1-5BFB-1A23-A67F-467CB66F9873}"/>
              </a:ext>
            </a:extLst>
          </p:cNvPr>
          <p:cNvSpPr/>
          <p:nvPr/>
        </p:nvSpPr>
        <p:spPr>
          <a:xfrm>
            <a:off x="297462" y="1433813"/>
            <a:ext cx="67646" cy="461665"/>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sz="2800"/>
          </a:p>
        </p:txBody>
      </p:sp>
      <p:sp>
        <p:nvSpPr>
          <p:cNvPr id="6" name="TextBox 5">
            <a:extLst>
              <a:ext uri="{FF2B5EF4-FFF2-40B4-BE49-F238E27FC236}">
                <a16:creationId xmlns:a16="http://schemas.microsoft.com/office/drawing/2014/main" id="{48F7AA03-4143-C3F1-1574-A868A616FB0E}"/>
              </a:ext>
            </a:extLst>
          </p:cNvPr>
          <p:cNvSpPr txBox="1"/>
          <p:nvPr/>
        </p:nvSpPr>
        <p:spPr>
          <a:xfrm>
            <a:off x="365107" y="2162708"/>
            <a:ext cx="9332345" cy="2862322"/>
          </a:xfrm>
          <a:prstGeom prst="rect">
            <a:avLst/>
          </a:prstGeom>
          <a:noFill/>
        </p:spPr>
        <p:txBody>
          <a:bodyPr wrap="square" rtlCol="0">
            <a:spAutoFit/>
          </a:bodyPr>
          <a:lstStyle/>
          <a:p>
            <a:pPr marL="342900" indent="-342900" fontAlgn="base">
              <a:buFont typeface="Arial" panose="020B0604020202020204" pitchFamily="34" charset="0"/>
              <a:buChar char="•"/>
            </a:pPr>
            <a:r>
              <a:rPr lang="en-US" sz="2000" b="1" dirty="0" err="1" smtClean="0"/>
              <a:t>G.Veshal</a:t>
            </a:r>
            <a:r>
              <a:rPr lang="en-US" sz="2000" b="1" dirty="0" smtClean="0"/>
              <a:t> </a:t>
            </a:r>
            <a:r>
              <a:rPr lang="en-US" sz="2000" dirty="0" smtClean="0"/>
              <a:t>– Designed and managed the project database.</a:t>
            </a:r>
          </a:p>
          <a:p>
            <a:pPr marL="342900" indent="-342900" fontAlgn="base">
              <a:buFont typeface="Arial" panose="020B0604020202020204" pitchFamily="34" charset="0"/>
              <a:buChar char="•"/>
            </a:pPr>
            <a:endParaRPr lang="en-US" sz="2000" dirty="0" smtClean="0"/>
          </a:p>
          <a:p>
            <a:pPr marL="342900" indent="-342900" fontAlgn="base">
              <a:buFont typeface="Arial" panose="020B0604020202020204" pitchFamily="34" charset="0"/>
              <a:buChar char="•"/>
            </a:pPr>
            <a:r>
              <a:rPr lang="en-US" sz="2000" b="1" dirty="0" err="1" smtClean="0"/>
              <a:t>S.Likitha</a:t>
            </a:r>
            <a:r>
              <a:rPr lang="en-US" sz="2000" dirty="0" smtClean="0"/>
              <a:t> </a:t>
            </a:r>
            <a:r>
              <a:rPr lang="en-US" sz="2000" dirty="0"/>
              <a:t>– Developed the backend logic and </a:t>
            </a:r>
            <a:r>
              <a:rPr lang="en-US" sz="2000" dirty="0" smtClean="0"/>
              <a:t>APIs.</a:t>
            </a:r>
          </a:p>
          <a:p>
            <a:pPr marL="342900" indent="-342900" fontAlgn="base">
              <a:buFont typeface="Arial" panose="020B0604020202020204" pitchFamily="34" charset="0"/>
              <a:buChar char="•"/>
            </a:pPr>
            <a:endParaRPr lang="en-US" sz="2000" dirty="0" smtClean="0"/>
          </a:p>
          <a:p>
            <a:pPr marL="342900" indent="-342900" fontAlgn="base">
              <a:buFont typeface="Arial" panose="020B0604020202020204" pitchFamily="34" charset="0"/>
              <a:buChar char="•"/>
            </a:pPr>
            <a:r>
              <a:rPr lang="en-US" sz="2000" b="1" dirty="0" err="1" smtClean="0"/>
              <a:t>Sruthi</a:t>
            </a:r>
            <a:r>
              <a:rPr lang="en-US" sz="2000" b="1" dirty="0" smtClean="0"/>
              <a:t> </a:t>
            </a:r>
            <a:r>
              <a:rPr lang="en-US" sz="2000" b="1" dirty="0" err="1" smtClean="0"/>
              <a:t>Jadhav</a:t>
            </a:r>
            <a:r>
              <a:rPr lang="en-US" sz="2000" b="1" dirty="0" smtClean="0"/>
              <a:t> </a:t>
            </a:r>
            <a:r>
              <a:rPr lang="en-US" sz="2000" dirty="0" smtClean="0"/>
              <a:t>– </a:t>
            </a:r>
            <a:r>
              <a:rPr lang="en-US" sz="2000" dirty="0"/>
              <a:t>Built the user interface for </a:t>
            </a:r>
            <a:r>
              <a:rPr lang="en-US" sz="2000" dirty="0" err="1" smtClean="0"/>
              <a:t>SmartGST</a:t>
            </a:r>
            <a:r>
              <a:rPr lang="en-US" sz="2000" dirty="0" smtClean="0"/>
              <a:t>.</a:t>
            </a:r>
          </a:p>
          <a:p>
            <a:pPr marL="342900" indent="-342900" fontAlgn="base">
              <a:buFont typeface="Arial" panose="020B0604020202020204" pitchFamily="34" charset="0"/>
              <a:buChar char="•"/>
            </a:pPr>
            <a:endParaRPr lang="en-US" sz="2000" dirty="0" smtClean="0"/>
          </a:p>
          <a:p>
            <a:pPr marL="342900" indent="-342900" fontAlgn="base">
              <a:buFont typeface="Arial" panose="020B0604020202020204" pitchFamily="34" charset="0"/>
              <a:buChar char="•"/>
            </a:pPr>
            <a:r>
              <a:rPr lang="en-US" sz="2000" b="1" dirty="0" err="1" smtClean="0"/>
              <a:t>Y.Kavya</a:t>
            </a:r>
            <a:r>
              <a:rPr lang="en-US" sz="2000" b="1" dirty="0" smtClean="0"/>
              <a:t> </a:t>
            </a:r>
            <a:r>
              <a:rPr lang="en-US" sz="2000" b="1" dirty="0"/>
              <a:t>Reddy </a:t>
            </a:r>
            <a:r>
              <a:rPr lang="en-US" sz="2000" dirty="0"/>
              <a:t>– Tested the application for accuracy and </a:t>
            </a:r>
            <a:r>
              <a:rPr lang="en-US" sz="2000" dirty="0" smtClean="0"/>
              <a:t>bugs.</a:t>
            </a:r>
          </a:p>
          <a:p>
            <a:pPr fontAlgn="base"/>
            <a:endParaRPr lang="en-US" sz="2000" dirty="0" smtClean="0"/>
          </a:p>
          <a:p>
            <a:pPr marL="342900" indent="-342900" fontAlgn="base">
              <a:buFont typeface="Arial" panose="020B0604020202020204" pitchFamily="34" charset="0"/>
              <a:buChar char="•"/>
            </a:pPr>
            <a:r>
              <a:rPr lang="en-US" sz="2000" b="1" dirty="0" err="1" smtClean="0"/>
              <a:t>V.Vijayalakshmi</a:t>
            </a:r>
            <a:r>
              <a:rPr lang="en-US" sz="2000" b="1" dirty="0" smtClean="0"/>
              <a:t> </a:t>
            </a:r>
            <a:r>
              <a:rPr lang="en-US" sz="2000" dirty="0"/>
              <a:t>– Created and organized the project presentation.</a:t>
            </a:r>
            <a:endParaRPr lang="en-IN" sz="2000" dirty="0"/>
          </a:p>
        </p:txBody>
      </p:sp>
    </p:spTree>
    <p:extLst>
      <p:ext uri="{BB962C8B-B14F-4D97-AF65-F5344CB8AC3E}">
        <p14:creationId xmlns:p14="http://schemas.microsoft.com/office/powerpoint/2010/main" val="2988351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A084D-0732-A9AE-A734-A82ADD293A8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05EB457-8574-E0AC-C84B-C8AF20CEBFE2}"/>
              </a:ext>
            </a:extLst>
          </p:cNvPr>
          <p:cNvSpPr>
            <a:spLocks noGrp="1"/>
          </p:cNvSpPr>
          <p:nvPr>
            <p:ph type="title"/>
          </p:nvPr>
        </p:nvSpPr>
        <p:spPr>
          <a:xfrm>
            <a:off x="449467" y="1403035"/>
            <a:ext cx="7530823" cy="492443"/>
          </a:xfrm>
        </p:spPr>
        <p:txBody>
          <a:bodyPr/>
          <a:lstStyle/>
          <a:p>
            <a:r>
              <a:rPr lang="en-IN" altLang="en-US" sz="2400" dirty="0"/>
              <a:t>PROBLEM STATEMENT</a:t>
            </a:r>
            <a:r>
              <a:rPr lang="en-IN" altLang="en-US" dirty="0"/>
              <a:t>​</a:t>
            </a:r>
            <a:endParaRPr lang="ko-KR" altLang="en-US" sz="2400" dirty="0"/>
          </a:p>
        </p:txBody>
      </p:sp>
      <p:sp>
        <p:nvSpPr>
          <p:cNvPr id="14" name="제목 1">
            <a:extLst>
              <a:ext uri="{FF2B5EF4-FFF2-40B4-BE49-F238E27FC236}">
                <a16:creationId xmlns:a16="http://schemas.microsoft.com/office/drawing/2014/main" id="{1CC0C1AA-4396-7D2E-BA3B-5D3C338BB397}"/>
              </a:ext>
            </a:extLst>
          </p:cNvPr>
          <p:cNvSpPr txBox="1">
            <a:spLocks/>
          </p:cNvSpPr>
          <p:nvPr/>
        </p:nvSpPr>
        <p:spPr>
          <a:xfrm>
            <a:off x="449467" y="202637"/>
            <a:ext cx="8541187" cy="1169551"/>
          </a:xfrm>
          <a:prstGeom prst="rect">
            <a:avLst/>
          </a:prstGeom>
          <a:noFill/>
          <a:ln w="12700" cap="flat" cmpd="sng" algn="ctr">
            <a:noFill/>
            <a:prstDash val="solid"/>
            <a:miter lim="800000"/>
          </a:ln>
          <a:effectLst/>
        </p:spPr>
        <p:txBody>
          <a:bodyPr wrap="square" lIns="0" tIns="0" rIns="0" bIns="0" rtlCol="0" anchor="t">
            <a:spAutoFit/>
            <a:scene3d>
              <a:camera prst="orthographicFront"/>
              <a:lightRig rig="threePt" dir="t"/>
            </a:scene3d>
            <a:sp3d>
              <a:bevelT w="0" h="6350"/>
            </a:sp3d>
          </a:bodyPr>
          <a:lstStyle>
            <a:lvl1pPr algn="l" defTabSz="914400" rtl="0" eaLnBrk="1" latinLnBrk="1" hangingPunct="1">
              <a:lnSpc>
                <a:spcPct val="100000"/>
              </a:lnSpc>
              <a:spcBef>
                <a:spcPts val="0"/>
              </a:spcBef>
              <a:buNone/>
              <a:defRPr lang="ko-KR" altLang="en-US" sz="3200" kern="1200">
                <a:solidFill>
                  <a:schemeClr val="tx1">
                    <a:lumMod val="95000"/>
                    <a:lumOff val="5000"/>
                  </a:schemeClr>
                </a:solidFill>
                <a:latin typeface="Samsung Sharp Sans" pitchFamily="2" charset="0"/>
                <a:ea typeface="Samsung Sharp Sans" pitchFamily="2" charset="0"/>
                <a:cs typeface="Samsung Sharp Sans"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400" dirty="0">
                <a:solidFill>
                  <a:schemeClr val="bg1"/>
                </a:solidFill>
              </a:rPr>
              <a:t>SMART GST – Intelligent GST Billing &amp; Fraud</a:t>
            </a:r>
          </a:p>
          <a:p>
            <a:r>
              <a:rPr lang="en-US" sz="2400" dirty="0">
                <a:solidFill>
                  <a:schemeClr val="bg1"/>
                </a:solidFill>
              </a:rPr>
              <a:t> Detection System</a:t>
            </a:r>
            <a:endParaRPr lang="en-US" altLang="ko-KR" sz="2400" dirty="0">
              <a:solidFill>
                <a:schemeClr val="bg1"/>
              </a:solidFill>
            </a:endParaRPr>
          </a:p>
          <a:p>
            <a:endParaRPr lang="en-US" sz="2800" dirty="0">
              <a:solidFill>
                <a:schemeClr val="bg1"/>
              </a:solidFill>
            </a:endParaRPr>
          </a:p>
        </p:txBody>
      </p:sp>
      <p:sp>
        <p:nvSpPr>
          <p:cNvPr id="4" name="직사각형 38">
            <a:extLst>
              <a:ext uri="{FF2B5EF4-FFF2-40B4-BE49-F238E27FC236}">
                <a16:creationId xmlns:a16="http://schemas.microsoft.com/office/drawing/2014/main" id="{2F1F10E7-C806-5E5B-E2CE-036CC5852F4A}"/>
              </a:ext>
            </a:extLst>
          </p:cNvPr>
          <p:cNvSpPr/>
          <p:nvPr/>
        </p:nvSpPr>
        <p:spPr>
          <a:xfrm>
            <a:off x="297462" y="1433813"/>
            <a:ext cx="67646" cy="461665"/>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sz="2800"/>
          </a:p>
        </p:txBody>
      </p:sp>
      <p:sp>
        <p:nvSpPr>
          <p:cNvPr id="3" name="TextBox 2">
            <a:extLst>
              <a:ext uri="{FF2B5EF4-FFF2-40B4-BE49-F238E27FC236}">
                <a16:creationId xmlns:a16="http://schemas.microsoft.com/office/drawing/2014/main" id="{4BFFA6B0-7808-95AB-8BAE-DB94815B00C2}"/>
              </a:ext>
            </a:extLst>
          </p:cNvPr>
          <p:cNvSpPr txBox="1"/>
          <p:nvPr/>
        </p:nvSpPr>
        <p:spPr>
          <a:xfrm>
            <a:off x="314055" y="2001078"/>
            <a:ext cx="7928797" cy="2246769"/>
          </a:xfrm>
          <a:prstGeom prst="rect">
            <a:avLst/>
          </a:prstGeom>
          <a:noFill/>
        </p:spPr>
        <p:txBody>
          <a:bodyPr wrap="square" rtlCol="0">
            <a:spAutoFit/>
          </a:bodyPr>
          <a:lstStyle/>
          <a:p>
            <a:pPr fontAlgn="base"/>
            <a:endParaRPr lang="en-US" sz="2000" dirty="0"/>
          </a:p>
          <a:p>
            <a:pPr marL="342900" indent="-342900" algn="just" fontAlgn="base">
              <a:buFont typeface="Arial" panose="020B0604020202020204" pitchFamily="34" charset="0"/>
              <a:buChar char="•"/>
            </a:pPr>
            <a:r>
              <a:rPr lang="en-US" sz="2000" dirty="0" smtClean="0"/>
              <a:t>Consumers </a:t>
            </a:r>
            <a:r>
              <a:rPr lang="en-US" sz="2000" dirty="0"/>
              <a:t>often struggle to correctly calculate GST, verify billing accuracy, and detect overcharging by shops. Existing tools lack voice input, fraud detection, and automated invoice generation. </a:t>
            </a:r>
            <a:r>
              <a:rPr lang="en-US" sz="2000" dirty="0" err="1"/>
              <a:t>SmartGST</a:t>
            </a:r>
            <a:r>
              <a:rPr lang="en-US" sz="2000" dirty="0"/>
              <a:t> solves this by providing a simple, smart, and accurate GST calculator with built-in fraud detection and billing history</a:t>
            </a:r>
            <a:endParaRPr lang="en-US" sz="2000" dirty="0">
              <a:latin typeface="Times New Roman" panose="02020603050405020304" pitchFamily="18" charset="0"/>
              <a:cs typeface="Times New Roman" panose="02020603050405020304" pitchFamily="18" charset="0"/>
            </a:endParaRPr>
          </a:p>
          <a:p>
            <a:pPr fontAlgn="base"/>
            <a:r>
              <a:rPr lang="en-US" sz="2000" dirty="0"/>
              <a:t>    </a:t>
            </a:r>
          </a:p>
        </p:txBody>
      </p:sp>
      <p:pic>
        <p:nvPicPr>
          <p:cNvPr id="5" name="Content Placeholder 7">
            <a:extLst>
              <a:ext uri="{FF2B5EF4-FFF2-40B4-BE49-F238E27FC236}">
                <a16:creationId xmlns:a16="http://schemas.microsoft.com/office/drawing/2014/main" id="{53C58815-A937-EDBD-0CA6-347AAC8F0A72}"/>
              </a:ext>
            </a:extLst>
          </p:cNvPr>
          <p:cNvPicPr>
            <a:picLocks noGrp="1"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2445" y="3920506"/>
            <a:ext cx="3700462" cy="2466975"/>
          </a:xfrm>
          <a:prstGeom prst="rect">
            <a:avLst/>
          </a:prstGeom>
          <a:noFill/>
          <a:ln>
            <a:noFill/>
          </a:ln>
        </p:spPr>
      </p:pic>
    </p:spTree>
    <p:extLst>
      <p:ext uri="{BB962C8B-B14F-4D97-AF65-F5344CB8AC3E}">
        <p14:creationId xmlns:p14="http://schemas.microsoft.com/office/powerpoint/2010/main" val="4115186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CF612-2575-126D-9768-7CF5D878492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BB5174A-C2E7-F5B0-959C-0ACF7D2F1157}"/>
              </a:ext>
            </a:extLst>
          </p:cNvPr>
          <p:cNvSpPr>
            <a:spLocks noGrp="1"/>
          </p:cNvSpPr>
          <p:nvPr>
            <p:ph type="title"/>
          </p:nvPr>
        </p:nvSpPr>
        <p:spPr>
          <a:xfrm>
            <a:off x="449467" y="1510756"/>
            <a:ext cx="7530823" cy="369332"/>
          </a:xfrm>
        </p:spPr>
        <p:txBody>
          <a:bodyPr/>
          <a:lstStyle/>
          <a:p>
            <a:r>
              <a:rPr lang="en-IN" altLang="en-US" sz="2400" dirty="0"/>
              <a:t>​Existing System</a:t>
            </a:r>
            <a:endParaRPr lang="ko-KR" altLang="en-US" sz="2400" dirty="0"/>
          </a:p>
        </p:txBody>
      </p:sp>
      <p:sp>
        <p:nvSpPr>
          <p:cNvPr id="4" name="직사각형 38">
            <a:extLst>
              <a:ext uri="{FF2B5EF4-FFF2-40B4-BE49-F238E27FC236}">
                <a16:creationId xmlns:a16="http://schemas.microsoft.com/office/drawing/2014/main" id="{B7C83119-4DF9-2480-BC8D-F96E41D7AEA5}"/>
              </a:ext>
            </a:extLst>
          </p:cNvPr>
          <p:cNvSpPr/>
          <p:nvPr/>
        </p:nvSpPr>
        <p:spPr>
          <a:xfrm>
            <a:off x="297462" y="1433813"/>
            <a:ext cx="67646" cy="461665"/>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sz="2800"/>
          </a:p>
        </p:txBody>
      </p:sp>
      <p:sp>
        <p:nvSpPr>
          <p:cNvPr id="3" name="TextBox 2">
            <a:extLst>
              <a:ext uri="{FF2B5EF4-FFF2-40B4-BE49-F238E27FC236}">
                <a16:creationId xmlns:a16="http://schemas.microsoft.com/office/drawing/2014/main" id="{1A37FEAA-F717-83AB-D615-40B0D75BBE1F}"/>
              </a:ext>
            </a:extLst>
          </p:cNvPr>
          <p:cNvSpPr txBox="1"/>
          <p:nvPr/>
        </p:nvSpPr>
        <p:spPr>
          <a:xfrm>
            <a:off x="365108" y="2438755"/>
            <a:ext cx="9077830" cy="3416320"/>
          </a:xfrm>
          <a:prstGeom prst="rect">
            <a:avLst/>
          </a:prstGeom>
          <a:noFill/>
        </p:spPr>
        <p:txBody>
          <a:bodyPr wrap="square" rtlCol="0">
            <a:spAutoFit/>
          </a:bodyPr>
          <a:lstStyle/>
          <a:p>
            <a:r>
              <a:rPr lang="en-US" sz="2400" dirty="0"/>
              <a:t>Users manually calculate GST or rely on basic calculators that only apply standard percentages.</a:t>
            </a:r>
          </a:p>
          <a:p>
            <a:r>
              <a:rPr lang="en-US" sz="2400" dirty="0"/>
              <a:t>Most tools do </a:t>
            </a:r>
            <a:r>
              <a:rPr lang="en-US" sz="2400" b="1" dirty="0"/>
              <a:t>not</a:t>
            </a:r>
            <a:r>
              <a:rPr lang="en-US" sz="2400" dirty="0"/>
              <a:t> support voice input, inclusive/exclusive GST modes, or dynamic GST category selection.</a:t>
            </a:r>
          </a:p>
          <a:p>
            <a:r>
              <a:rPr lang="en-US" sz="2400" dirty="0"/>
              <a:t>There is </a:t>
            </a:r>
            <a:r>
              <a:rPr lang="en-US" sz="2400" b="1" dirty="0"/>
              <a:t>no fraud detection</a:t>
            </a:r>
            <a:r>
              <a:rPr lang="en-US" sz="2400" dirty="0"/>
              <a:t>, so users cannot verify if shops overcharged them.</a:t>
            </a:r>
          </a:p>
          <a:p>
            <a:r>
              <a:rPr lang="en-US" sz="2400" dirty="0"/>
              <a:t>Billing history and auto-generated invoices are typically not available in existing GST calculators.</a:t>
            </a:r>
          </a:p>
          <a:p>
            <a:pPr fontAlgn="base"/>
            <a:r>
              <a:rPr lang="en-IN" sz="2400" dirty="0" smtClean="0"/>
              <a:t>​</a:t>
            </a:r>
            <a:endParaRPr lang="en-IN" sz="2400" dirty="0"/>
          </a:p>
        </p:txBody>
      </p:sp>
      <p:sp>
        <p:nvSpPr>
          <p:cNvPr id="6" name="TextBox 5"/>
          <p:cNvSpPr txBox="1"/>
          <p:nvPr/>
        </p:nvSpPr>
        <p:spPr>
          <a:xfrm>
            <a:off x="331285" y="0"/>
            <a:ext cx="9316833" cy="2062103"/>
          </a:xfrm>
          <a:prstGeom prst="rect">
            <a:avLst/>
          </a:prstGeom>
          <a:noFill/>
        </p:spPr>
        <p:txBody>
          <a:bodyPr wrap="square" rtlCol="0">
            <a:spAutoFit/>
          </a:bodyPr>
          <a:lstStyle/>
          <a:p>
            <a:r>
              <a:rPr lang="en-US" sz="3200" dirty="0">
                <a:solidFill>
                  <a:schemeClr val="bg1"/>
                </a:solidFill>
              </a:rPr>
              <a:t>SMART GST – Intelligent GST Billing &amp; Fraud</a:t>
            </a:r>
          </a:p>
          <a:p>
            <a:r>
              <a:rPr lang="en-US" sz="3200" dirty="0">
                <a:solidFill>
                  <a:schemeClr val="bg1"/>
                </a:solidFill>
              </a:rPr>
              <a:t> Detection System</a:t>
            </a:r>
            <a:endParaRPr lang="en-US" altLang="ko-KR" sz="3200" dirty="0">
              <a:solidFill>
                <a:schemeClr val="bg1"/>
              </a:solidFill>
            </a:endParaRPr>
          </a:p>
          <a:p>
            <a:endParaRPr lang="en-US" sz="3200" dirty="0">
              <a:solidFill>
                <a:schemeClr val="bg1"/>
              </a:solidFill>
            </a:endParaRPr>
          </a:p>
          <a:p>
            <a:endParaRPr lang="en-US" sz="3200" dirty="0"/>
          </a:p>
        </p:txBody>
      </p:sp>
    </p:spTree>
    <p:extLst>
      <p:ext uri="{BB962C8B-B14F-4D97-AF65-F5344CB8AC3E}">
        <p14:creationId xmlns:p14="http://schemas.microsoft.com/office/powerpoint/2010/main" val="3161812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14A2A-A3F6-4453-ED9E-93D06D3615A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971EB8A-4BD9-B916-96FA-B76BB3DFF61D}"/>
              </a:ext>
            </a:extLst>
          </p:cNvPr>
          <p:cNvSpPr>
            <a:spLocks noGrp="1"/>
          </p:cNvSpPr>
          <p:nvPr>
            <p:ph type="title"/>
          </p:nvPr>
        </p:nvSpPr>
        <p:spPr>
          <a:xfrm>
            <a:off x="522288" y="1479980"/>
            <a:ext cx="7530823" cy="369332"/>
          </a:xfrm>
        </p:spPr>
        <p:txBody>
          <a:bodyPr/>
          <a:lstStyle/>
          <a:p>
            <a:r>
              <a:rPr lang="en-IN" altLang="en-US" sz="2400" dirty="0"/>
              <a:t>PROPOSED SYSTEM </a:t>
            </a:r>
            <a:endParaRPr lang="ko-KR" altLang="en-US" sz="2400" dirty="0"/>
          </a:p>
        </p:txBody>
      </p:sp>
      <p:sp>
        <p:nvSpPr>
          <p:cNvPr id="14" name="제목 1">
            <a:extLst>
              <a:ext uri="{FF2B5EF4-FFF2-40B4-BE49-F238E27FC236}">
                <a16:creationId xmlns:a16="http://schemas.microsoft.com/office/drawing/2014/main" id="{40EBF8AE-CB74-06C7-20C6-A7559E0AFE9F}"/>
              </a:ext>
            </a:extLst>
          </p:cNvPr>
          <p:cNvSpPr txBox="1">
            <a:spLocks/>
          </p:cNvSpPr>
          <p:nvPr/>
        </p:nvSpPr>
        <p:spPr>
          <a:xfrm>
            <a:off x="449467" y="96579"/>
            <a:ext cx="8541187" cy="1292662"/>
          </a:xfrm>
          <a:prstGeom prst="rect">
            <a:avLst/>
          </a:prstGeom>
          <a:noFill/>
          <a:ln w="12700" cap="flat" cmpd="sng" algn="ctr">
            <a:noFill/>
            <a:prstDash val="solid"/>
            <a:miter lim="800000"/>
          </a:ln>
          <a:effectLst/>
        </p:spPr>
        <p:txBody>
          <a:bodyPr wrap="square" lIns="0" tIns="0" rIns="0" bIns="0" rtlCol="0" anchor="t">
            <a:spAutoFit/>
            <a:scene3d>
              <a:camera prst="orthographicFront"/>
              <a:lightRig rig="threePt" dir="t"/>
            </a:scene3d>
            <a:sp3d>
              <a:bevelT w="0" h="6350"/>
            </a:sp3d>
          </a:bodyPr>
          <a:lstStyle>
            <a:lvl1pPr algn="l" defTabSz="914400" rtl="0" eaLnBrk="1" latinLnBrk="1" hangingPunct="1">
              <a:lnSpc>
                <a:spcPct val="100000"/>
              </a:lnSpc>
              <a:spcBef>
                <a:spcPts val="0"/>
              </a:spcBef>
              <a:buNone/>
              <a:defRPr lang="ko-KR" altLang="en-US" sz="3200" kern="1200">
                <a:solidFill>
                  <a:schemeClr val="tx1">
                    <a:lumMod val="95000"/>
                    <a:lumOff val="5000"/>
                  </a:schemeClr>
                </a:solidFill>
                <a:latin typeface="Samsung Sharp Sans" pitchFamily="2" charset="0"/>
                <a:ea typeface="Samsung Sharp Sans" pitchFamily="2" charset="0"/>
                <a:cs typeface="Samsung Sharp Sans"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800" dirty="0">
                <a:solidFill>
                  <a:schemeClr val="bg1"/>
                </a:solidFill>
              </a:rPr>
              <a:t>SMART GST – Intelligent GST Billing &amp; Fraud</a:t>
            </a:r>
          </a:p>
          <a:p>
            <a:r>
              <a:rPr lang="en-US" sz="2800" dirty="0">
                <a:solidFill>
                  <a:schemeClr val="bg1"/>
                </a:solidFill>
              </a:rPr>
              <a:t> Detection System</a:t>
            </a:r>
            <a:endParaRPr lang="en-US" altLang="ko-KR" sz="2800" dirty="0">
              <a:solidFill>
                <a:schemeClr val="bg1"/>
              </a:solidFill>
            </a:endParaRPr>
          </a:p>
          <a:p>
            <a:endParaRPr lang="en-US" sz="2800" dirty="0">
              <a:solidFill>
                <a:schemeClr val="bg1"/>
              </a:solidFill>
            </a:endParaRPr>
          </a:p>
        </p:txBody>
      </p:sp>
      <p:sp>
        <p:nvSpPr>
          <p:cNvPr id="4" name="직사각형 38">
            <a:extLst>
              <a:ext uri="{FF2B5EF4-FFF2-40B4-BE49-F238E27FC236}">
                <a16:creationId xmlns:a16="http://schemas.microsoft.com/office/drawing/2014/main" id="{1AF08136-4F62-64B8-1165-D680846493B4}"/>
              </a:ext>
            </a:extLst>
          </p:cNvPr>
          <p:cNvSpPr/>
          <p:nvPr/>
        </p:nvSpPr>
        <p:spPr>
          <a:xfrm>
            <a:off x="297462" y="1433813"/>
            <a:ext cx="67646" cy="461665"/>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sz="2800"/>
          </a:p>
        </p:txBody>
      </p:sp>
      <p:sp>
        <p:nvSpPr>
          <p:cNvPr id="3" name="TextBox 2">
            <a:extLst>
              <a:ext uri="{FF2B5EF4-FFF2-40B4-BE49-F238E27FC236}">
                <a16:creationId xmlns:a16="http://schemas.microsoft.com/office/drawing/2014/main" id="{956826B0-708A-208D-D37A-EDA17B114DFE}"/>
              </a:ext>
            </a:extLst>
          </p:cNvPr>
          <p:cNvSpPr txBox="1"/>
          <p:nvPr/>
        </p:nvSpPr>
        <p:spPr>
          <a:xfrm>
            <a:off x="449466" y="2221832"/>
            <a:ext cx="9128287" cy="3170099"/>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t>The proposed </a:t>
            </a:r>
            <a:r>
              <a:rPr lang="en-US" sz="2000" dirty="0" err="1"/>
              <a:t>SmartGST</a:t>
            </a:r>
            <a:r>
              <a:rPr lang="en-US" sz="2000" dirty="0"/>
              <a:t> system provides an automated and accurate GST calculation platform with both inclusive and exclusive modes.</a:t>
            </a:r>
          </a:p>
          <a:p>
            <a:pPr marL="342900" indent="-342900" algn="just">
              <a:buFont typeface="Arial" panose="020B0604020202020204" pitchFamily="34" charset="0"/>
              <a:buChar char="•"/>
            </a:pPr>
            <a:r>
              <a:rPr lang="en-US" sz="2000" dirty="0"/>
              <a:t>It eliminates manual errors by using a smart backend engine for GST slab detection and category selection.</a:t>
            </a:r>
          </a:p>
          <a:p>
            <a:pPr marL="342900" indent="-342900" algn="just">
              <a:buFont typeface="Arial" panose="020B0604020202020204" pitchFamily="34" charset="0"/>
              <a:buChar char="•"/>
            </a:pPr>
            <a:r>
              <a:rPr lang="en-US" sz="2000" dirty="0"/>
              <a:t>A fraud detection module ensures customers are not overcharged by comparing billed and actual GST totals.</a:t>
            </a:r>
          </a:p>
          <a:p>
            <a:pPr marL="342900" indent="-342900" algn="just">
              <a:buFont typeface="Arial" panose="020B0604020202020204" pitchFamily="34" charset="0"/>
              <a:buChar char="•"/>
            </a:pPr>
            <a:r>
              <a:rPr lang="en-US" sz="2000" dirty="0"/>
              <a:t>The system also supports voice input, billing history storage, and automatic invoice generation.</a:t>
            </a:r>
          </a:p>
          <a:p>
            <a:pPr marL="342900" indent="-342900" algn="just">
              <a:buFont typeface="Arial" panose="020B0604020202020204" pitchFamily="34" charset="0"/>
              <a:buChar char="•"/>
            </a:pPr>
            <a:r>
              <a:rPr lang="en-US" sz="2000" dirty="0"/>
              <a:t>Overall, </a:t>
            </a:r>
            <a:r>
              <a:rPr lang="en-US" sz="2000" dirty="0" err="1"/>
              <a:t>SmartGST</a:t>
            </a:r>
            <a:r>
              <a:rPr lang="en-US" sz="2000" dirty="0"/>
              <a:t> delivers a fast, reliable, and user-friendly solution for transparent GST billing</a:t>
            </a:r>
            <a:r>
              <a:rPr lang="en-US" sz="2000" dirty="0" smtClean="0"/>
              <a:t>.</a:t>
            </a:r>
            <a:endParaRPr lang="en-US" sz="2000" dirty="0"/>
          </a:p>
        </p:txBody>
      </p:sp>
    </p:spTree>
    <p:extLst>
      <p:ext uri="{BB962C8B-B14F-4D97-AF65-F5344CB8AC3E}">
        <p14:creationId xmlns:p14="http://schemas.microsoft.com/office/powerpoint/2010/main" val="3232550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64127-ACE4-FB41-378E-A04588AEDF3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5A9149C-191A-0DC6-65BA-4CF11A6E0883}"/>
              </a:ext>
            </a:extLst>
          </p:cNvPr>
          <p:cNvSpPr>
            <a:spLocks noGrp="1"/>
          </p:cNvSpPr>
          <p:nvPr>
            <p:ph type="title"/>
          </p:nvPr>
        </p:nvSpPr>
        <p:spPr>
          <a:xfrm>
            <a:off x="522288" y="1479980"/>
            <a:ext cx="7530823" cy="369332"/>
          </a:xfrm>
        </p:spPr>
        <p:txBody>
          <a:bodyPr/>
          <a:lstStyle/>
          <a:p>
            <a:r>
              <a:rPr lang="en-IN" altLang="ko-KR" sz="2400" dirty="0"/>
              <a:t>WORKFLOW</a:t>
            </a:r>
            <a:endParaRPr lang="ko-KR" altLang="en-US" sz="2400" dirty="0"/>
          </a:p>
        </p:txBody>
      </p:sp>
      <p:sp>
        <p:nvSpPr>
          <p:cNvPr id="14" name="제목 1">
            <a:extLst>
              <a:ext uri="{FF2B5EF4-FFF2-40B4-BE49-F238E27FC236}">
                <a16:creationId xmlns:a16="http://schemas.microsoft.com/office/drawing/2014/main" id="{ECECF07B-A6AD-2270-6B68-67F45D627F45}"/>
              </a:ext>
            </a:extLst>
          </p:cNvPr>
          <p:cNvSpPr txBox="1">
            <a:spLocks/>
          </p:cNvSpPr>
          <p:nvPr/>
        </p:nvSpPr>
        <p:spPr>
          <a:xfrm>
            <a:off x="449467" y="307"/>
            <a:ext cx="8541187" cy="1292662"/>
          </a:xfrm>
          <a:prstGeom prst="rect">
            <a:avLst/>
          </a:prstGeom>
          <a:noFill/>
          <a:ln w="12700" cap="flat" cmpd="sng" algn="ctr">
            <a:noFill/>
            <a:prstDash val="solid"/>
            <a:miter lim="800000"/>
          </a:ln>
          <a:effectLst/>
        </p:spPr>
        <p:txBody>
          <a:bodyPr wrap="square" lIns="0" tIns="0" rIns="0" bIns="0" rtlCol="0" anchor="t">
            <a:spAutoFit/>
            <a:scene3d>
              <a:camera prst="orthographicFront"/>
              <a:lightRig rig="threePt" dir="t"/>
            </a:scene3d>
            <a:sp3d>
              <a:bevelT w="0" h="6350"/>
            </a:sp3d>
          </a:bodyPr>
          <a:lstStyle>
            <a:lvl1pPr algn="l" defTabSz="914400" rtl="0" eaLnBrk="1" latinLnBrk="1" hangingPunct="1">
              <a:lnSpc>
                <a:spcPct val="100000"/>
              </a:lnSpc>
              <a:spcBef>
                <a:spcPts val="0"/>
              </a:spcBef>
              <a:buNone/>
              <a:defRPr lang="ko-KR" altLang="en-US" sz="3200" kern="1200">
                <a:solidFill>
                  <a:schemeClr val="tx1">
                    <a:lumMod val="95000"/>
                    <a:lumOff val="5000"/>
                  </a:schemeClr>
                </a:solidFill>
                <a:latin typeface="Samsung Sharp Sans" pitchFamily="2" charset="0"/>
                <a:ea typeface="Samsung Sharp Sans" pitchFamily="2" charset="0"/>
                <a:cs typeface="Samsung Sharp Sans"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800" dirty="0">
                <a:solidFill>
                  <a:schemeClr val="bg1"/>
                </a:solidFill>
              </a:rPr>
              <a:t>SMART GST – Intelligent GST Billing &amp; Fraud</a:t>
            </a:r>
          </a:p>
          <a:p>
            <a:r>
              <a:rPr lang="en-US" sz="2800" dirty="0">
                <a:solidFill>
                  <a:schemeClr val="bg1"/>
                </a:solidFill>
              </a:rPr>
              <a:t> Detection System</a:t>
            </a:r>
            <a:endParaRPr lang="en-US" altLang="ko-KR" sz="2800" dirty="0">
              <a:solidFill>
                <a:schemeClr val="bg1"/>
              </a:solidFill>
            </a:endParaRPr>
          </a:p>
          <a:p>
            <a:endParaRPr lang="en-US" sz="2800" dirty="0">
              <a:solidFill>
                <a:schemeClr val="bg1"/>
              </a:solidFill>
            </a:endParaRPr>
          </a:p>
        </p:txBody>
      </p:sp>
      <p:sp>
        <p:nvSpPr>
          <p:cNvPr id="4" name="직사각형 38">
            <a:extLst>
              <a:ext uri="{FF2B5EF4-FFF2-40B4-BE49-F238E27FC236}">
                <a16:creationId xmlns:a16="http://schemas.microsoft.com/office/drawing/2014/main" id="{EC6A28B4-CDC6-D860-51D3-931690D7EFD8}"/>
              </a:ext>
            </a:extLst>
          </p:cNvPr>
          <p:cNvSpPr/>
          <p:nvPr/>
        </p:nvSpPr>
        <p:spPr>
          <a:xfrm>
            <a:off x="297462" y="1433813"/>
            <a:ext cx="67646" cy="461665"/>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sz="2800"/>
          </a:p>
        </p:txBody>
      </p:sp>
      <p:sp>
        <p:nvSpPr>
          <p:cNvPr id="3" name="TextBox 2">
            <a:extLst>
              <a:ext uri="{FF2B5EF4-FFF2-40B4-BE49-F238E27FC236}">
                <a16:creationId xmlns:a16="http://schemas.microsoft.com/office/drawing/2014/main" id="{47E3E001-3246-DB15-FA83-D7A37798FB0E}"/>
              </a:ext>
            </a:extLst>
          </p:cNvPr>
          <p:cNvSpPr txBox="1"/>
          <p:nvPr/>
        </p:nvSpPr>
        <p:spPr>
          <a:xfrm>
            <a:off x="449467" y="1877522"/>
            <a:ext cx="8911101" cy="677108"/>
          </a:xfrm>
          <a:prstGeom prst="rect">
            <a:avLst/>
          </a:prstGeom>
          <a:noFill/>
        </p:spPr>
        <p:txBody>
          <a:bodyPr wrap="square" rtlCol="0">
            <a:spAutoFit/>
          </a:bodyPr>
          <a:lstStyle/>
          <a:p>
            <a:pPr fontAlgn="base"/>
            <a:endParaRPr lang="en-US" sz="2000" dirty="0"/>
          </a:p>
          <a:p>
            <a:endParaRPr lang="en-IN" dirty="0"/>
          </a:p>
        </p:txBody>
      </p:sp>
      <p:pic>
        <p:nvPicPr>
          <p:cNvPr id="7" name="Picture 6">
            <a:extLst>
              <a:ext uri="{FF2B5EF4-FFF2-40B4-BE49-F238E27FC236}">
                <a16:creationId xmlns:a16="http://schemas.microsoft.com/office/drawing/2014/main" id="{59448EC2-7C83-5D54-CA14-7EFD320101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4361" y="2216076"/>
            <a:ext cx="2888974" cy="4333461"/>
          </a:xfrm>
          <a:prstGeom prst="rect">
            <a:avLst/>
          </a:prstGeom>
        </p:spPr>
      </p:pic>
    </p:spTree>
    <p:extLst>
      <p:ext uri="{BB962C8B-B14F-4D97-AF65-F5344CB8AC3E}">
        <p14:creationId xmlns:p14="http://schemas.microsoft.com/office/powerpoint/2010/main" val="2017558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759C2-3612-A835-A6C8-1A5FA4C47923}"/>
            </a:ext>
          </a:extLst>
        </p:cNvPr>
        <p:cNvGrpSpPr/>
        <p:nvPr/>
      </p:nvGrpSpPr>
      <p:grpSpPr>
        <a:xfrm>
          <a:off x="0" y="0"/>
          <a:ext cx="0" cy="0"/>
          <a:chOff x="0" y="0"/>
          <a:chExt cx="0" cy="0"/>
        </a:xfrm>
      </p:grpSpPr>
      <p:sp>
        <p:nvSpPr>
          <p:cNvPr id="14" name="제목 1">
            <a:extLst>
              <a:ext uri="{FF2B5EF4-FFF2-40B4-BE49-F238E27FC236}">
                <a16:creationId xmlns:a16="http://schemas.microsoft.com/office/drawing/2014/main" id="{919B4D13-DBB4-887E-8666-6AB6318649B3}"/>
              </a:ext>
            </a:extLst>
          </p:cNvPr>
          <p:cNvSpPr txBox="1">
            <a:spLocks/>
          </p:cNvSpPr>
          <p:nvPr/>
        </p:nvSpPr>
        <p:spPr>
          <a:xfrm>
            <a:off x="449467" y="0"/>
            <a:ext cx="8541187" cy="1292662"/>
          </a:xfrm>
          <a:prstGeom prst="rect">
            <a:avLst/>
          </a:prstGeom>
          <a:noFill/>
          <a:ln w="12700" cap="flat" cmpd="sng" algn="ctr">
            <a:noFill/>
            <a:prstDash val="solid"/>
            <a:miter lim="800000"/>
          </a:ln>
          <a:effectLst/>
        </p:spPr>
        <p:txBody>
          <a:bodyPr wrap="square" lIns="0" tIns="0" rIns="0" bIns="0" rtlCol="0" anchor="t">
            <a:spAutoFit/>
            <a:scene3d>
              <a:camera prst="orthographicFront"/>
              <a:lightRig rig="threePt" dir="t"/>
            </a:scene3d>
            <a:sp3d>
              <a:bevelT w="0" h="6350"/>
            </a:sp3d>
          </a:bodyPr>
          <a:lstStyle>
            <a:lvl1pPr algn="l" defTabSz="914400" rtl="0" eaLnBrk="1" latinLnBrk="1" hangingPunct="1">
              <a:lnSpc>
                <a:spcPct val="100000"/>
              </a:lnSpc>
              <a:spcBef>
                <a:spcPts val="0"/>
              </a:spcBef>
              <a:buNone/>
              <a:defRPr lang="ko-KR" altLang="en-US" sz="3200" kern="1200">
                <a:solidFill>
                  <a:schemeClr val="tx1">
                    <a:lumMod val="95000"/>
                    <a:lumOff val="5000"/>
                  </a:schemeClr>
                </a:solidFill>
                <a:latin typeface="Samsung Sharp Sans" pitchFamily="2" charset="0"/>
                <a:ea typeface="Samsung Sharp Sans" pitchFamily="2" charset="0"/>
                <a:cs typeface="Samsung Sharp Sans"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800" dirty="0">
                <a:solidFill>
                  <a:schemeClr val="bg1"/>
                </a:solidFill>
              </a:rPr>
              <a:t>SMART GST – Intelligent GST Billing &amp; Fraud</a:t>
            </a:r>
          </a:p>
          <a:p>
            <a:r>
              <a:rPr lang="en-US" sz="2800" dirty="0">
                <a:solidFill>
                  <a:schemeClr val="bg1"/>
                </a:solidFill>
              </a:rPr>
              <a:t> Detection System</a:t>
            </a:r>
            <a:endParaRPr lang="en-US" altLang="ko-KR" sz="2800" dirty="0">
              <a:solidFill>
                <a:schemeClr val="bg1"/>
              </a:solidFill>
            </a:endParaRPr>
          </a:p>
          <a:p>
            <a:endParaRPr lang="en-US" sz="2800" dirty="0">
              <a:solidFill>
                <a:schemeClr val="bg1"/>
              </a:solidFill>
            </a:endParaRPr>
          </a:p>
        </p:txBody>
      </p:sp>
      <p:sp>
        <p:nvSpPr>
          <p:cNvPr id="6" name="Title 5">
            <a:extLst>
              <a:ext uri="{FF2B5EF4-FFF2-40B4-BE49-F238E27FC236}">
                <a16:creationId xmlns:a16="http://schemas.microsoft.com/office/drawing/2014/main" id="{B90166DC-EF62-3824-E72D-837AF55D3FEF}"/>
              </a:ext>
            </a:extLst>
          </p:cNvPr>
          <p:cNvSpPr>
            <a:spLocks noGrp="1"/>
          </p:cNvSpPr>
          <p:nvPr>
            <p:ph type="title"/>
          </p:nvPr>
        </p:nvSpPr>
        <p:spPr>
          <a:xfrm>
            <a:off x="449468" y="1440000"/>
            <a:ext cx="8541187" cy="3693319"/>
          </a:xfrm>
        </p:spPr>
        <p:txBody>
          <a:bodyPr/>
          <a:lstStyle/>
          <a:p>
            <a:pPr lvl="0" eaLnBrk="0" fontAlgn="base" latinLnBrk="0" hangingPunct="0">
              <a:spcBef>
                <a:spcPct val="0"/>
              </a:spcBef>
              <a:spcAft>
                <a:spcPct val="0"/>
              </a:spcAft>
            </a:pPr>
            <a:r>
              <a:rPr lang="en-IN" sz="2000" dirty="0" smtClean="0"/>
              <a:t>Objective/Goals :</a:t>
            </a:r>
            <a:br>
              <a:rPr lang="en-IN" sz="2000" dirty="0" smtClean="0"/>
            </a:br>
            <a:r>
              <a:rPr lang="en-IN" sz="2000" dirty="0" smtClean="0"/>
              <a:t/>
            </a:r>
            <a:br>
              <a:rPr lang="en-IN" sz="2000" dirty="0" smtClean="0"/>
            </a:br>
            <a:r>
              <a:rPr lang="en-US" altLang="en-US" sz="2000" dirty="0">
                <a:solidFill>
                  <a:schemeClr val="tx1"/>
                </a:solidFill>
                <a:latin typeface="Arial" panose="020B0604020202020204" pitchFamily="34" charset="0"/>
              </a:rPr>
              <a:t>To provide a fast and accurate GST calculation system for users.</a:t>
            </a:r>
            <a:br>
              <a:rPr lang="en-US" altLang="en-US" sz="2000" dirty="0">
                <a:solidFill>
                  <a:schemeClr val="tx1"/>
                </a:solidFill>
                <a:latin typeface="Arial" panose="020B0604020202020204" pitchFamily="34" charset="0"/>
              </a:rPr>
            </a:br>
            <a:r>
              <a:rPr lang="en-US" altLang="en-US" sz="2000" dirty="0">
                <a:solidFill>
                  <a:schemeClr val="tx1"/>
                </a:solidFill>
                <a:latin typeface="Arial" panose="020B0604020202020204" pitchFamily="34" charset="0"/>
              </a:rPr>
              <a:t>To prevent customer overcharging using an automated fraud detection module.</a:t>
            </a:r>
            <a:br>
              <a:rPr lang="en-US" altLang="en-US" sz="2000" dirty="0">
                <a:solidFill>
                  <a:schemeClr val="tx1"/>
                </a:solidFill>
                <a:latin typeface="Arial" panose="020B0604020202020204" pitchFamily="34" charset="0"/>
              </a:rPr>
            </a:br>
            <a:r>
              <a:rPr lang="en-US" altLang="en-US" sz="2000" dirty="0">
                <a:solidFill>
                  <a:schemeClr val="tx1"/>
                </a:solidFill>
                <a:latin typeface="Arial" panose="020B0604020202020204" pitchFamily="34" charset="0"/>
              </a:rPr>
              <a:t>To simplify billing with voice input, invoice generation, and easy history tracking.</a:t>
            </a:r>
            <a:br>
              <a:rPr lang="en-US" altLang="en-US" sz="2000" dirty="0">
                <a:solidFill>
                  <a:schemeClr val="tx1"/>
                </a:solidFill>
                <a:latin typeface="Arial" panose="020B0604020202020204" pitchFamily="34" charset="0"/>
              </a:rPr>
            </a:br>
            <a:r>
              <a:rPr lang="en-US" altLang="en-US" sz="2000" dirty="0">
                <a:solidFill>
                  <a:schemeClr val="tx1"/>
                </a:solidFill>
                <a:latin typeface="Arial" panose="020B0604020202020204" pitchFamily="34" charset="0"/>
              </a:rPr>
              <a:t>To make GST billing transparent, user-friendly, and error-free.</a:t>
            </a:r>
            <a:br>
              <a:rPr lang="en-US" altLang="en-US" sz="2000" dirty="0">
                <a:solidFill>
                  <a:schemeClr val="tx1"/>
                </a:solidFill>
                <a:latin typeface="Arial" panose="020B0604020202020204" pitchFamily="34" charset="0"/>
              </a:rPr>
            </a:br>
            <a:r>
              <a:rPr lang="en-US" altLang="en-US" sz="2000" dirty="0">
                <a:solidFill>
                  <a:schemeClr val="tx1"/>
                </a:solidFill>
                <a:latin typeface="Arial" panose="020B0604020202020204" pitchFamily="34" charset="0"/>
              </a:rPr>
              <a:t>To build a lightweight, efficient system using Flask APIs and a clean web UI.</a:t>
            </a:r>
            <a:br>
              <a:rPr lang="en-US" altLang="en-US" sz="2000" dirty="0">
                <a:solidFill>
                  <a:schemeClr val="tx1"/>
                </a:solidFill>
                <a:latin typeface="Arial" panose="020B0604020202020204" pitchFamily="34" charset="0"/>
              </a:rPr>
            </a:br>
            <a:r>
              <a:rPr lang="en-IN" sz="2000" dirty="0" smtClean="0"/>
              <a:t/>
            </a:r>
            <a:br>
              <a:rPr lang="en-IN" sz="2000" dirty="0" smtClean="0"/>
            </a:br>
            <a:r>
              <a:rPr lang="en-IN" sz="2000" dirty="0"/>
              <a:t/>
            </a:r>
            <a:br>
              <a:rPr lang="en-IN" sz="2000" dirty="0"/>
            </a:br>
            <a:endParaRPr lang="en-IN" sz="2000" dirty="0"/>
          </a:p>
        </p:txBody>
      </p:sp>
    </p:spTree>
    <p:extLst>
      <p:ext uri="{BB962C8B-B14F-4D97-AF65-F5344CB8AC3E}">
        <p14:creationId xmlns:p14="http://schemas.microsoft.com/office/powerpoint/2010/main" val="1347065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E98F0-91DF-BC7C-6E5C-14E58A6737D2}"/>
            </a:ext>
          </a:extLst>
        </p:cNvPr>
        <p:cNvGrpSpPr/>
        <p:nvPr/>
      </p:nvGrpSpPr>
      <p:grpSpPr>
        <a:xfrm>
          <a:off x="0" y="0"/>
          <a:ext cx="0" cy="0"/>
          <a:chOff x="0" y="0"/>
          <a:chExt cx="0" cy="0"/>
        </a:xfrm>
      </p:grpSpPr>
      <p:sp>
        <p:nvSpPr>
          <p:cNvPr id="14" name="제목 1">
            <a:extLst>
              <a:ext uri="{FF2B5EF4-FFF2-40B4-BE49-F238E27FC236}">
                <a16:creationId xmlns:a16="http://schemas.microsoft.com/office/drawing/2014/main" id="{3963517D-47E1-C869-7BD3-355FE8B1F922}"/>
              </a:ext>
            </a:extLst>
          </p:cNvPr>
          <p:cNvSpPr txBox="1">
            <a:spLocks/>
          </p:cNvSpPr>
          <p:nvPr/>
        </p:nvSpPr>
        <p:spPr>
          <a:xfrm>
            <a:off x="449467" y="96397"/>
            <a:ext cx="8541187" cy="1292662"/>
          </a:xfrm>
          <a:prstGeom prst="rect">
            <a:avLst/>
          </a:prstGeom>
          <a:noFill/>
          <a:ln w="12700" cap="flat" cmpd="sng" algn="ctr">
            <a:noFill/>
            <a:prstDash val="solid"/>
            <a:miter lim="800000"/>
          </a:ln>
          <a:effectLst/>
        </p:spPr>
        <p:txBody>
          <a:bodyPr wrap="square" lIns="0" tIns="0" rIns="0" bIns="0" rtlCol="0" anchor="t">
            <a:spAutoFit/>
            <a:scene3d>
              <a:camera prst="orthographicFront"/>
              <a:lightRig rig="threePt" dir="t"/>
            </a:scene3d>
            <a:sp3d>
              <a:bevelT w="0" h="6350"/>
            </a:sp3d>
          </a:bodyPr>
          <a:lstStyle>
            <a:lvl1pPr algn="l" defTabSz="914400" rtl="0" eaLnBrk="1" latinLnBrk="1" hangingPunct="1">
              <a:lnSpc>
                <a:spcPct val="100000"/>
              </a:lnSpc>
              <a:spcBef>
                <a:spcPts val="0"/>
              </a:spcBef>
              <a:buNone/>
              <a:defRPr lang="ko-KR" altLang="en-US" sz="3200" kern="1200">
                <a:solidFill>
                  <a:schemeClr val="tx1">
                    <a:lumMod val="95000"/>
                    <a:lumOff val="5000"/>
                  </a:schemeClr>
                </a:solidFill>
                <a:latin typeface="Samsung Sharp Sans" pitchFamily="2" charset="0"/>
                <a:ea typeface="Samsung Sharp Sans" pitchFamily="2" charset="0"/>
                <a:cs typeface="Samsung Sharp Sans"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800" dirty="0">
                <a:solidFill>
                  <a:schemeClr val="bg1"/>
                </a:solidFill>
              </a:rPr>
              <a:t>SMART GST – Intelligent GST Billing &amp; Fraud</a:t>
            </a:r>
          </a:p>
          <a:p>
            <a:r>
              <a:rPr lang="en-US" sz="2800" dirty="0">
                <a:solidFill>
                  <a:schemeClr val="bg1"/>
                </a:solidFill>
              </a:rPr>
              <a:t> Detection System</a:t>
            </a:r>
            <a:endParaRPr lang="en-US" altLang="ko-KR" sz="2800" dirty="0">
              <a:solidFill>
                <a:schemeClr val="bg1"/>
              </a:solidFill>
            </a:endParaRPr>
          </a:p>
          <a:p>
            <a:endParaRPr lang="en-US" sz="2800" dirty="0">
              <a:solidFill>
                <a:schemeClr val="bg1"/>
              </a:solidFill>
            </a:endParaRPr>
          </a:p>
        </p:txBody>
      </p:sp>
      <p:sp>
        <p:nvSpPr>
          <p:cNvPr id="3" name="TextBox 2">
            <a:extLst>
              <a:ext uri="{FF2B5EF4-FFF2-40B4-BE49-F238E27FC236}">
                <a16:creationId xmlns:a16="http://schemas.microsoft.com/office/drawing/2014/main" id="{3FB024AE-B960-85E6-60DB-49673F5A786E}"/>
              </a:ext>
            </a:extLst>
          </p:cNvPr>
          <p:cNvSpPr txBox="1"/>
          <p:nvPr/>
        </p:nvSpPr>
        <p:spPr>
          <a:xfrm>
            <a:off x="449467" y="1248509"/>
            <a:ext cx="9134147" cy="5478423"/>
          </a:xfrm>
          <a:prstGeom prst="rect">
            <a:avLst/>
          </a:prstGeom>
          <a:noFill/>
        </p:spPr>
        <p:txBody>
          <a:bodyPr wrap="square" rtlCol="0">
            <a:spAutoFit/>
          </a:bodyPr>
          <a:lstStyle/>
          <a:p>
            <a:r>
              <a:rPr lang="en-US" sz="2000" b="1" dirty="0" smtClean="0"/>
              <a:t>Modules/Key Features:</a:t>
            </a:r>
            <a:br>
              <a:rPr lang="en-US" sz="2000" b="1" dirty="0" smtClean="0"/>
            </a:br>
            <a:r>
              <a:rPr lang="en-US" sz="2000" b="1" dirty="0" smtClean="0"/>
              <a:t/>
            </a:r>
            <a:br>
              <a:rPr lang="en-US" sz="2000" b="1" dirty="0" smtClean="0"/>
            </a:br>
            <a:r>
              <a:rPr lang="en-US" sz="2000" b="1" dirty="0" smtClean="0"/>
              <a:t>1.GST </a:t>
            </a:r>
            <a:r>
              <a:rPr lang="en-US" sz="2000" b="1" dirty="0"/>
              <a:t>Calculation Module</a:t>
            </a:r>
          </a:p>
          <a:p>
            <a:r>
              <a:rPr lang="en-US" sz="2000" dirty="0"/>
              <a:t>Calculates GST using slabs with exclusive/inclusive modes and category selection (CGST/SGST/IGST</a:t>
            </a:r>
            <a:r>
              <a:rPr lang="en-US" sz="2000" dirty="0" smtClean="0"/>
              <a:t>).</a:t>
            </a:r>
          </a:p>
          <a:p>
            <a:endParaRPr lang="en-US" sz="2000" dirty="0"/>
          </a:p>
          <a:p>
            <a:r>
              <a:rPr lang="en-US" sz="2000" b="1" dirty="0"/>
              <a:t>2. Voice Input Module</a:t>
            </a:r>
          </a:p>
          <a:p>
            <a:r>
              <a:rPr lang="en-US" sz="2000" dirty="0"/>
              <a:t>Allows users to speak product and price, extracting numbers intelligently (e.g., 20k, 2 lakh</a:t>
            </a:r>
            <a:r>
              <a:rPr lang="en-US" sz="2000" dirty="0" smtClean="0"/>
              <a:t>).</a:t>
            </a:r>
          </a:p>
          <a:p>
            <a:endParaRPr lang="en-US" sz="2000" dirty="0"/>
          </a:p>
          <a:p>
            <a:r>
              <a:rPr lang="en-US" sz="2000" b="1" dirty="0"/>
              <a:t>3. Fraud Detection Module</a:t>
            </a:r>
          </a:p>
          <a:p>
            <a:r>
              <a:rPr lang="en-US" sz="2000" dirty="0"/>
              <a:t>Checks if the shop has overcharged by comparing billed amount with system-calculated total</a:t>
            </a:r>
            <a:r>
              <a:rPr lang="en-US" sz="2000" dirty="0" smtClean="0"/>
              <a:t>.</a:t>
            </a:r>
          </a:p>
          <a:p>
            <a:endParaRPr lang="en-US" sz="2000" dirty="0"/>
          </a:p>
          <a:p>
            <a:r>
              <a:rPr lang="en-US" sz="2000" b="1" dirty="0"/>
              <a:t>4. History Management Module</a:t>
            </a:r>
          </a:p>
          <a:p>
            <a:r>
              <a:rPr lang="en-US" sz="2000" dirty="0"/>
              <a:t>Stores previous GST calculations and displays billing history to users</a:t>
            </a:r>
            <a:r>
              <a:rPr lang="en-US" sz="2000" dirty="0" smtClean="0"/>
              <a:t>.</a:t>
            </a:r>
            <a:endParaRPr lang="en-US" sz="2000" dirty="0"/>
          </a:p>
          <a:p>
            <a:pPr algn="just">
              <a:lnSpc>
                <a:spcPct val="150000"/>
              </a:lnSpc>
              <a:defRPr/>
            </a:pPr>
            <a:endParaRPr lang="en-US" sz="2000" dirty="0"/>
          </a:p>
        </p:txBody>
      </p:sp>
    </p:spTree>
    <p:extLst>
      <p:ext uri="{BB962C8B-B14F-4D97-AF65-F5344CB8AC3E}">
        <p14:creationId xmlns:p14="http://schemas.microsoft.com/office/powerpoint/2010/main" val="3326352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a:t>
            </a:r>
            <a:endParaRPr lang="en-US" dirty="0"/>
          </a:p>
        </p:txBody>
      </p:sp>
      <p:sp>
        <p:nvSpPr>
          <p:cNvPr id="3" name="Text Placeholder 2"/>
          <p:cNvSpPr>
            <a:spLocks noGrp="1"/>
          </p:cNvSpPr>
          <p:nvPr>
            <p:ph type="body" sz="quarter" idx="10"/>
          </p:nvPr>
        </p:nvSpPr>
        <p:spPr>
          <a:xfrm>
            <a:off x="449468" y="450001"/>
            <a:ext cx="323896" cy="277200"/>
          </a:xfrm>
        </p:spPr>
        <p:txBody>
          <a:bodyPr/>
          <a:lstStyle/>
          <a:p>
            <a:r>
              <a:rPr lang="en-US" dirty="0" smtClean="0"/>
              <a:t>.</a:t>
            </a:r>
            <a:endParaRPr lang="en-US" dirty="0"/>
          </a:p>
        </p:txBody>
      </p:sp>
      <p:sp>
        <p:nvSpPr>
          <p:cNvPr id="4" name="Text Placeholder 3"/>
          <p:cNvSpPr>
            <a:spLocks noGrp="1"/>
          </p:cNvSpPr>
          <p:nvPr>
            <p:ph type="body" sz="quarter" idx="11"/>
          </p:nvPr>
        </p:nvSpPr>
        <p:spPr>
          <a:xfrm>
            <a:off x="449468" y="173102"/>
            <a:ext cx="8885032" cy="1107996"/>
          </a:xfrm>
        </p:spPr>
        <p:txBody>
          <a:bodyPr/>
          <a:lstStyle/>
          <a:p>
            <a:r>
              <a:rPr lang="en-US" sz="2400" dirty="0"/>
              <a:t>SMART GST – Intelligent GST Billing &amp; Fraud</a:t>
            </a:r>
          </a:p>
          <a:p>
            <a:r>
              <a:rPr lang="en-US" sz="2400" dirty="0" smtClean="0"/>
              <a:t> Detection </a:t>
            </a:r>
            <a:r>
              <a:rPr lang="en-US" sz="2400" dirty="0"/>
              <a:t>System</a:t>
            </a:r>
            <a:endParaRPr lang="en-US" altLang="ko-KR" sz="2400" dirty="0"/>
          </a:p>
          <a:p>
            <a:endParaRPr lang="en-US" sz="2400" dirty="0"/>
          </a:p>
        </p:txBody>
      </p:sp>
      <p:sp>
        <p:nvSpPr>
          <p:cNvPr id="5" name="Text Placeholder 4"/>
          <p:cNvSpPr>
            <a:spLocks noGrp="1"/>
          </p:cNvSpPr>
          <p:nvPr>
            <p:ph type="body" sz="quarter" idx="12"/>
          </p:nvPr>
        </p:nvSpPr>
        <p:spPr/>
        <p:txBody>
          <a:bodyPr/>
          <a:lstStyle/>
          <a:p>
            <a:endParaRPr lang="en-US"/>
          </a:p>
        </p:txBody>
      </p:sp>
      <p:sp>
        <p:nvSpPr>
          <p:cNvPr id="6" name="Text Placeholder 5"/>
          <p:cNvSpPr>
            <a:spLocks noGrp="1"/>
          </p:cNvSpPr>
          <p:nvPr>
            <p:ph type="body" sz="quarter" idx="13"/>
          </p:nvPr>
        </p:nvSpPr>
        <p:spPr/>
        <p:txBody>
          <a:bodyPr/>
          <a:lstStyle/>
          <a:p>
            <a:endParaRPr lang="en-US"/>
          </a:p>
        </p:txBody>
      </p:sp>
      <p:sp>
        <p:nvSpPr>
          <p:cNvPr id="7" name="Text Placeholder 6"/>
          <p:cNvSpPr>
            <a:spLocks noGrp="1"/>
          </p:cNvSpPr>
          <p:nvPr>
            <p:ph type="body" sz="quarter" idx="15"/>
          </p:nvPr>
        </p:nvSpPr>
        <p:spPr>
          <a:xfrm>
            <a:off x="522288" y="2221660"/>
            <a:ext cx="8931162" cy="3226639"/>
          </a:xfrm>
        </p:spPr>
        <p:txBody>
          <a:bodyPr/>
          <a:lstStyle/>
          <a:p>
            <a:pPr marL="0" indent="0" algn="just">
              <a:buNone/>
            </a:pPr>
            <a:r>
              <a:rPr lang="en-US" sz="2000" b="1" dirty="0">
                <a:latin typeface="Times New Roman" panose="02020603050405020304" pitchFamily="18" charset="0"/>
                <a:cs typeface="Times New Roman" panose="02020603050405020304" pitchFamily="18" charset="0"/>
              </a:rPr>
              <a:t>5. Invoice Generation Module</a:t>
            </a:r>
          </a:p>
          <a:p>
            <a:pPr marL="0" indent="0" algn="just">
              <a:buNone/>
            </a:pPr>
            <a:r>
              <a:rPr lang="en-US" sz="2000" dirty="0">
                <a:latin typeface="Times New Roman" panose="02020603050405020304" pitchFamily="18" charset="0"/>
                <a:cs typeface="Times New Roman" panose="02020603050405020304" pitchFamily="18" charset="0"/>
              </a:rPr>
              <a:t>Creates downloadable PDF invoices based on the user's GST calculation.</a:t>
            </a:r>
          </a:p>
          <a:p>
            <a:pPr marL="0" indent="0" algn="just">
              <a:buNone/>
            </a:pPr>
            <a:r>
              <a:rPr lang="en-US" sz="2000" b="1" dirty="0">
                <a:latin typeface="Times New Roman" panose="02020603050405020304" pitchFamily="18" charset="0"/>
                <a:cs typeface="Times New Roman" panose="02020603050405020304" pitchFamily="18" charset="0"/>
              </a:rPr>
              <a:t>6. Backend API Module (Flask)</a:t>
            </a:r>
          </a:p>
          <a:p>
            <a:pPr marL="0" indent="0" algn="just">
              <a:buNone/>
            </a:pPr>
            <a:r>
              <a:rPr lang="en-US" sz="2000" dirty="0">
                <a:latin typeface="Times New Roman" panose="02020603050405020304" pitchFamily="18" charset="0"/>
                <a:cs typeface="Times New Roman" panose="02020603050405020304" pitchFamily="18" charset="0"/>
              </a:rPr>
              <a:t>Handles all server-side operations like calculation, fraud detection, history, and invoice via REST APIs.</a:t>
            </a:r>
          </a:p>
          <a:p>
            <a:pPr marL="0" indent="0" algn="just">
              <a:buNone/>
            </a:pPr>
            <a:r>
              <a:rPr lang="en-US" sz="2000" b="1" dirty="0">
                <a:latin typeface="Times New Roman" panose="02020603050405020304" pitchFamily="18" charset="0"/>
                <a:cs typeface="Times New Roman" panose="02020603050405020304" pitchFamily="18" charset="0"/>
              </a:rPr>
              <a:t>7. Frontend UI Module</a:t>
            </a:r>
          </a:p>
          <a:p>
            <a:pPr marL="0" indent="0" algn="just">
              <a:buNone/>
            </a:pPr>
            <a:r>
              <a:rPr lang="en-US" sz="2000" dirty="0">
                <a:latin typeface="Times New Roman" panose="02020603050405020304" pitchFamily="18" charset="0"/>
                <a:cs typeface="Times New Roman" panose="02020603050405020304" pitchFamily="18" charset="0"/>
              </a:rPr>
              <a:t>User-friendly interface with input fields, buttons, history panel, results, and voice integration.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190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78593-01B7-4CEC-68C0-3C262262035B}"/>
              </a:ext>
            </a:extLst>
          </p:cNvPr>
          <p:cNvSpPr>
            <a:spLocks noGrp="1"/>
          </p:cNvSpPr>
          <p:nvPr>
            <p:ph type="title"/>
          </p:nvPr>
        </p:nvSpPr>
        <p:spPr>
          <a:xfrm>
            <a:off x="390413" y="1262651"/>
            <a:ext cx="8541187" cy="492443"/>
          </a:xfrm>
        </p:spPr>
        <p:txBody>
          <a:bodyPr/>
          <a:lstStyle/>
          <a:p>
            <a:r>
              <a:rPr lang="en-US" dirty="0"/>
              <a:t>Results</a:t>
            </a:r>
          </a:p>
        </p:txBody>
      </p:sp>
      <p:sp>
        <p:nvSpPr>
          <p:cNvPr id="3" name="Text Placeholder 2">
            <a:extLst>
              <a:ext uri="{FF2B5EF4-FFF2-40B4-BE49-F238E27FC236}">
                <a16:creationId xmlns:a16="http://schemas.microsoft.com/office/drawing/2014/main" id="{57A7CB5C-F885-E5F7-475A-3DC9323F2BEF}"/>
              </a:ext>
            </a:extLst>
          </p:cNvPr>
          <p:cNvSpPr>
            <a:spLocks noGrp="1"/>
          </p:cNvSpPr>
          <p:nvPr>
            <p:ph type="body" sz="quarter" idx="10"/>
          </p:nvPr>
        </p:nvSpPr>
        <p:spPr>
          <a:xfrm flipV="1">
            <a:off x="-1125332" y="1374899"/>
            <a:ext cx="323896" cy="276871"/>
          </a:xfrm>
        </p:spPr>
        <p:txBody>
          <a:bodyPr/>
          <a:lstStyle/>
          <a:p>
            <a:r>
              <a:rPr lang="en-US" dirty="0" smtClean="0"/>
              <a:t>.</a:t>
            </a:r>
            <a:endParaRPr lang="en-US" dirty="0"/>
          </a:p>
        </p:txBody>
      </p:sp>
      <p:sp>
        <p:nvSpPr>
          <p:cNvPr id="4" name="Text Placeholder 3">
            <a:extLst>
              <a:ext uri="{FF2B5EF4-FFF2-40B4-BE49-F238E27FC236}">
                <a16:creationId xmlns:a16="http://schemas.microsoft.com/office/drawing/2014/main" id="{548783C9-6391-1B05-9760-8328EB5024D5}"/>
              </a:ext>
            </a:extLst>
          </p:cNvPr>
          <p:cNvSpPr>
            <a:spLocks noGrp="1"/>
          </p:cNvSpPr>
          <p:nvPr>
            <p:ph type="body" sz="quarter" idx="11"/>
          </p:nvPr>
        </p:nvSpPr>
        <p:spPr>
          <a:xfrm>
            <a:off x="390413" y="188390"/>
            <a:ext cx="8187314" cy="1107996"/>
          </a:xfrm>
        </p:spPr>
        <p:txBody>
          <a:bodyPr/>
          <a:lstStyle/>
          <a:p>
            <a:r>
              <a:rPr lang="en-US" sz="2400" dirty="0">
                <a:latin typeface="Times New Roman" panose="02020603050405020304" pitchFamily="18" charset="0"/>
                <a:cs typeface="Times New Roman" panose="02020603050405020304" pitchFamily="18" charset="0"/>
              </a:rPr>
              <a:t>SMART GST – Intelligent GST Billing &amp; Fraud</a:t>
            </a:r>
          </a:p>
          <a:p>
            <a:r>
              <a:rPr lang="en-US" sz="2400" dirty="0">
                <a:latin typeface="Times New Roman" panose="02020603050405020304" pitchFamily="18" charset="0"/>
                <a:cs typeface="Times New Roman" panose="02020603050405020304" pitchFamily="18" charset="0"/>
              </a:rPr>
              <a:t> Detection System</a:t>
            </a:r>
            <a:endParaRPr lang="en-US" altLang="ko-KR"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1D708036-D813-C3D0-AD7D-4588364B806F}"/>
              </a:ext>
            </a:extLst>
          </p:cNvPr>
          <p:cNvSpPr>
            <a:spLocks noGrp="1"/>
          </p:cNvSpPr>
          <p:nvPr>
            <p:ph type="body" sz="quarter" idx="12"/>
          </p:nvPr>
        </p:nvSpPr>
        <p:spPr/>
        <p:txBody>
          <a:bodyPr/>
          <a:lstStyle/>
          <a:p>
            <a:endParaRPr lang="en-US"/>
          </a:p>
        </p:txBody>
      </p:sp>
      <p:sp>
        <p:nvSpPr>
          <p:cNvPr id="6" name="Text Placeholder 5">
            <a:extLst>
              <a:ext uri="{FF2B5EF4-FFF2-40B4-BE49-F238E27FC236}">
                <a16:creationId xmlns:a16="http://schemas.microsoft.com/office/drawing/2014/main" id="{13CD845B-2227-5954-E6D1-7D55C1CB9268}"/>
              </a:ext>
            </a:extLst>
          </p:cNvPr>
          <p:cNvSpPr>
            <a:spLocks noGrp="1"/>
          </p:cNvSpPr>
          <p:nvPr>
            <p:ph type="body" sz="quarter" idx="13"/>
          </p:nvPr>
        </p:nvSpPr>
        <p:spPr/>
        <p:txBody>
          <a:bodyPr/>
          <a:lstStyle/>
          <a:p>
            <a:endParaRPr lang="en-US"/>
          </a:p>
        </p:txBody>
      </p:sp>
      <p:sp>
        <p:nvSpPr>
          <p:cNvPr id="7" name="Text Placeholder 6">
            <a:extLst>
              <a:ext uri="{FF2B5EF4-FFF2-40B4-BE49-F238E27FC236}">
                <a16:creationId xmlns:a16="http://schemas.microsoft.com/office/drawing/2014/main" id="{E36CAAA3-B461-F5FD-120A-76E6F6B781BF}"/>
              </a:ext>
            </a:extLst>
          </p:cNvPr>
          <p:cNvSpPr>
            <a:spLocks noGrp="1"/>
          </p:cNvSpPr>
          <p:nvPr>
            <p:ph type="body" sz="quarter" idx="15"/>
          </p:nvPr>
        </p:nvSpPr>
        <p:spPr>
          <a:xfrm>
            <a:off x="10477500" y="1651770"/>
            <a:ext cx="1148227" cy="532561"/>
          </a:xfrm>
        </p:spPr>
        <p:txBody>
          <a:bodyPr/>
          <a:lstStyle/>
          <a:p>
            <a:pPr marL="0" indent="0">
              <a:buNone/>
            </a:pPr>
            <a:r>
              <a:rPr lang="en-US" dirty="0" smtClean="0"/>
              <a:t>.</a:t>
            </a:r>
            <a:endParaRPr lang="en-US" dirty="0"/>
          </a:p>
        </p:txBody>
      </p:sp>
      <p:pic>
        <p:nvPicPr>
          <p:cNvPr id="8" name="Picture 7">
            <a:extLst>
              <a:ext uri="{FF2B5EF4-FFF2-40B4-BE49-F238E27FC236}">
                <a16:creationId xmlns:a16="http://schemas.microsoft.com/office/drawing/2014/main" id="{CA49E25E-8F49-8858-A134-FD639B5541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6426" y="2006950"/>
            <a:ext cx="7788166" cy="4228750"/>
          </a:xfrm>
          <a:prstGeom prst="rect">
            <a:avLst/>
          </a:prstGeom>
        </p:spPr>
      </p:pic>
    </p:spTree>
    <p:extLst>
      <p:ext uri="{BB962C8B-B14F-4D97-AF65-F5344CB8AC3E}">
        <p14:creationId xmlns:p14="http://schemas.microsoft.com/office/powerpoint/2010/main" val="38764895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26D626-873A-0BF6-5F26-5B486DA6117D}"/>
              </a:ext>
            </a:extLst>
          </p:cNvPr>
          <p:cNvSpPr>
            <a:spLocks noGrp="1"/>
          </p:cNvSpPr>
          <p:nvPr>
            <p:ph type="body" sz="quarter" idx="10"/>
          </p:nvPr>
        </p:nvSpPr>
        <p:spPr>
          <a:xfrm>
            <a:off x="-1620632" y="1221478"/>
            <a:ext cx="323896" cy="277200"/>
          </a:xfrm>
        </p:spPr>
        <p:txBody>
          <a:bodyPr/>
          <a:lstStyle/>
          <a:p>
            <a:r>
              <a:rPr lang="en-US" dirty="0" smtClean="0"/>
              <a:t>.</a:t>
            </a:r>
            <a:endParaRPr lang="en-US" dirty="0"/>
          </a:p>
        </p:txBody>
      </p:sp>
      <p:sp>
        <p:nvSpPr>
          <p:cNvPr id="4" name="Text Placeholder 3">
            <a:extLst>
              <a:ext uri="{FF2B5EF4-FFF2-40B4-BE49-F238E27FC236}">
                <a16:creationId xmlns:a16="http://schemas.microsoft.com/office/drawing/2014/main" id="{4BEA0D11-AA21-4973-85F8-B6756108AEC1}"/>
              </a:ext>
            </a:extLst>
          </p:cNvPr>
          <p:cNvSpPr>
            <a:spLocks noGrp="1"/>
          </p:cNvSpPr>
          <p:nvPr>
            <p:ph type="body" sz="quarter" idx="11"/>
          </p:nvPr>
        </p:nvSpPr>
        <p:spPr>
          <a:xfrm>
            <a:off x="359348" y="1123101"/>
            <a:ext cx="7411908" cy="830997"/>
          </a:xfrm>
        </p:spPr>
        <p:txBody>
          <a:bodyPr/>
          <a:lstStyle/>
          <a:p>
            <a:r>
              <a:rPr lang="en-US" sz="1800" dirty="0">
                <a:latin typeface="Times New Roman" panose="02020603050405020304" pitchFamily="18" charset="0"/>
                <a:cs typeface="Times New Roman" panose="02020603050405020304" pitchFamily="18" charset="0"/>
              </a:rPr>
              <a:t>SMART GST – Intelligent GST Billing &amp; Fraud</a:t>
            </a:r>
          </a:p>
          <a:p>
            <a:r>
              <a:rPr lang="en-US" sz="1800" dirty="0">
                <a:latin typeface="Times New Roman" panose="02020603050405020304" pitchFamily="18" charset="0"/>
                <a:cs typeface="Times New Roman" panose="02020603050405020304" pitchFamily="18" charset="0"/>
              </a:rPr>
              <a:t> Detection System</a:t>
            </a:r>
            <a:endParaRPr lang="en-US" altLang="ko-KR"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B3AC7C8F-7827-75F5-31C9-266E25545FAD}"/>
              </a:ext>
            </a:extLst>
          </p:cNvPr>
          <p:cNvSpPr>
            <a:spLocks noGrp="1"/>
          </p:cNvSpPr>
          <p:nvPr>
            <p:ph type="body" sz="quarter" idx="12"/>
          </p:nvPr>
        </p:nvSpPr>
        <p:spPr/>
        <p:txBody>
          <a:bodyPr/>
          <a:lstStyle/>
          <a:p>
            <a:endParaRPr lang="en-US"/>
          </a:p>
        </p:txBody>
      </p:sp>
      <p:sp>
        <p:nvSpPr>
          <p:cNvPr id="6" name="Text Placeholder 5">
            <a:extLst>
              <a:ext uri="{FF2B5EF4-FFF2-40B4-BE49-F238E27FC236}">
                <a16:creationId xmlns:a16="http://schemas.microsoft.com/office/drawing/2014/main" id="{837A5B71-CDDF-94C6-37E2-7946E0512B7C}"/>
              </a:ext>
            </a:extLst>
          </p:cNvPr>
          <p:cNvSpPr>
            <a:spLocks noGrp="1"/>
          </p:cNvSpPr>
          <p:nvPr>
            <p:ph type="body" sz="quarter" idx="13"/>
          </p:nvPr>
        </p:nvSpPr>
        <p:spPr/>
        <p:txBody>
          <a:bodyPr/>
          <a:lstStyle/>
          <a:p>
            <a:endParaRPr lang="en-US"/>
          </a:p>
        </p:txBody>
      </p:sp>
      <p:sp>
        <p:nvSpPr>
          <p:cNvPr id="7" name="Text Placeholder 6">
            <a:extLst>
              <a:ext uri="{FF2B5EF4-FFF2-40B4-BE49-F238E27FC236}">
                <a16:creationId xmlns:a16="http://schemas.microsoft.com/office/drawing/2014/main" id="{E74354C3-431D-7622-C7AB-5F2E7A14A8E8}"/>
              </a:ext>
            </a:extLst>
          </p:cNvPr>
          <p:cNvSpPr>
            <a:spLocks noGrp="1"/>
          </p:cNvSpPr>
          <p:nvPr>
            <p:ph type="body" sz="quarter" idx="15"/>
          </p:nvPr>
        </p:nvSpPr>
        <p:spPr>
          <a:xfrm>
            <a:off x="522288" y="1371600"/>
            <a:ext cx="8055439" cy="896815"/>
          </a:xfrm>
        </p:spPr>
        <p:txBody>
          <a:bodyPr/>
          <a:lstStyle/>
          <a:p>
            <a:pPr marL="0" indent="0">
              <a:spcAft>
                <a:spcPct val="0"/>
              </a:spcAft>
              <a:buNone/>
              <a:defRPr/>
            </a:pPr>
            <a:r>
              <a:rPr lang="en-US" sz="2000" dirty="0" smtClean="0">
                <a:latin typeface="Times New Roman" panose="02020603050405020304" pitchFamily="18" charset="0"/>
                <a:cs typeface="Times New Roman" panose="02020603050405020304" pitchFamily="18" charset="0"/>
              </a:rPr>
              <a:t>GST Calculation</a:t>
            </a:r>
            <a:endParaRPr lang="en-US" sz="2000" dirty="0">
              <a:latin typeface="Times New Roman" panose="02020603050405020304" pitchFamily="18" charset="0"/>
              <a:cs typeface="Times New Roman" panose="02020603050405020304" pitchFamily="18" charset="0"/>
            </a:endParaRPr>
          </a:p>
          <a:p>
            <a:pPr algn="ctr">
              <a:spcAft>
                <a:spcPct val="0"/>
              </a:spcAft>
              <a:buNone/>
              <a:defRPr/>
            </a:pPr>
            <a:endParaRPr lang="en-US" sz="2000" dirty="0">
              <a:latin typeface="Times New Roman" panose="02020603050405020304" pitchFamily="18" charset="0"/>
              <a:cs typeface="Times New Roman" panose="02020603050405020304" pitchFamily="18" charset="0"/>
            </a:endParaRPr>
          </a:p>
          <a:p>
            <a:pPr>
              <a:spcAft>
                <a:spcPct val="0"/>
              </a:spcAft>
              <a:defRPr/>
            </a:pPr>
            <a:endParaRPr lang="en-US" sz="2000" dirty="0">
              <a:latin typeface="Times New Roman" panose="02020603050405020304" pitchFamily="18" charset="0"/>
              <a:cs typeface="Times New Roman" panose="02020603050405020304" pitchFamily="18" charset="0"/>
            </a:endParaRPr>
          </a:p>
          <a:p>
            <a:pPr marL="0" indent="0">
              <a:spcAft>
                <a:spcPct val="0"/>
              </a:spcAft>
              <a:buNone/>
              <a:defRPr/>
            </a:pPr>
            <a:endParaRPr lang="en-US" sz="2000" dirty="0">
              <a:latin typeface="Times New Roman" panose="02020603050405020304" pitchFamily="18" charset="0"/>
              <a:cs typeface="Times New Roman" panose="02020603050405020304" pitchFamily="18" charset="0"/>
            </a:endParaRPr>
          </a:p>
          <a:p>
            <a:pPr>
              <a:spcAft>
                <a:spcPct val="0"/>
              </a:spcAft>
              <a:defRP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pic>
        <p:nvPicPr>
          <p:cNvPr id="8" name="Image 145">
            <a:extLst>
              <a:ext uri="{FF2B5EF4-FFF2-40B4-BE49-F238E27FC236}">
                <a16:creationId xmlns:a16="http://schemas.microsoft.com/office/drawing/2014/main" id="{B9B53290-23FE-B02F-0E53-7D8ECD35A131}"/>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965200" y="1954098"/>
            <a:ext cx="7775467" cy="4000500"/>
          </a:xfrm>
          <a:prstGeom prst="rect">
            <a:avLst/>
          </a:prstGeom>
        </p:spPr>
      </p:pic>
      <p:sp>
        <p:nvSpPr>
          <p:cNvPr id="2" name="TextBox 1"/>
          <p:cNvSpPr txBox="1"/>
          <p:nvPr/>
        </p:nvSpPr>
        <p:spPr>
          <a:xfrm>
            <a:off x="114415" y="30494"/>
            <a:ext cx="8381319" cy="1508105"/>
          </a:xfrm>
          <a:prstGeom prst="rect">
            <a:avLst/>
          </a:prstGeom>
          <a:noFill/>
        </p:spPr>
        <p:txBody>
          <a:bodyPr wrap="square" rtlCol="0">
            <a:spAutoFit/>
          </a:bodyPr>
          <a:lstStyle/>
          <a:p>
            <a:r>
              <a:rPr lang="en-US" sz="2800" dirty="0">
                <a:solidFill>
                  <a:schemeClr val="bg1"/>
                </a:solidFill>
                <a:latin typeface="Times New Roman" panose="02020603050405020304" pitchFamily="18" charset="0"/>
                <a:cs typeface="Times New Roman" panose="02020603050405020304" pitchFamily="18" charset="0"/>
              </a:rPr>
              <a:t>SMART GST – Intelligent GST Billing &amp; Fraud</a:t>
            </a:r>
          </a:p>
          <a:p>
            <a:r>
              <a:rPr lang="en-US" sz="2800" dirty="0">
                <a:solidFill>
                  <a:schemeClr val="bg1"/>
                </a:solidFill>
                <a:latin typeface="Times New Roman" panose="02020603050405020304" pitchFamily="18" charset="0"/>
                <a:cs typeface="Times New Roman" panose="02020603050405020304" pitchFamily="18" charset="0"/>
              </a:rPr>
              <a:t> Detection System</a:t>
            </a:r>
            <a:endParaRPr lang="en-US" altLang="ko-KR" sz="2800" dirty="0">
              <a:solidFill>
                <a:schemeClr val="bg1"/>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82425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01865EC-6085-704E-9023-164109A783F4}"/>
              </a:ext>
            </a:extLst>
          </p:cNvPr>
          <p:cNvSpPr>
            <a:spLocks noGrp="1"/>
          </p:cNvSpPr>
          <p:nvPr>
            <p:ph type="body" sz="quarter" idx="10"/>
          </p:nvPr>
        </p:nvSpPr>
        <p:spPr>
          <a:xfrm>
            <a:off x="-1885726" y="2850300"/>
            <a:ext cx="323896" cy="277200"/>
          </a:xfrm>
        </p:spPr>
        <p:txBody>
          <a:bodyPr/>
          <a:lstStyle/>
          <a:p>
            <a:r>
              <a:rPr lang="en-US" dirty="0" smtClean="0"/>
              <a:t>.</a:t>
            </a:r>
            <a:endParaRPr lang="en-US" dirty="0"/>
          </a:p>
        </p:txBody>
      </p:sp>
      <p:sp>
        <p:nvSpPr>
          <p:cNvPr id="4" name="Text Placeholder 3">
            <a:extLst>
              <a:ext uri="{FF2B5EF4-FFF2-40B4-BE49-F238E27FC236}">
                <a16:creationId xmlns:a16="http://schemas.microsoft.com/office/drawing/2014/main" id="{BF2A68B2-EFAD-D894-4A28-8DF9B799E1F7}"/>
              </a:ext>
            </a:extLst>
          </p:cNvPr>
          <p:cNvSpPr>
            <a:spLocks noGrp="1"/>
          </p:cNvSpPr>
          <p:nvPr>
            <p:ph type="body" sz="quarter" idx="11"/>
          </p:nvPr>
        </p:nvSpPr>
        <p:spPr>
          <a:xfrm>
            <a:off x="45798" y="0"/>
            <a:ext cx="8326212" cy="1969770"/>
          </a:xfrm>
        </p:spPr>
        <p:txBody>
          <a:bodyPr/>
          <a:lstStyle/>
          <a:p>
            <a:r>
              <a:rPr lang="en-US" sz="3200" dirty="0"/>
              <a:t>SMART GST – Intelligent GST Billing &amp; Fraud</a:t>
            </a:r>
          </a:p>
          <a:p>
            <a:r>
              <a:rPr lang="en-US" sz="3200" dirty="0"/>
              <a:t> Detection System</a:t>
            </a:r>
            <a:endParaRPr lang="en-US" altLang="ko-KR" sz="3200" dirty="0"/>
          </a:p>
          <a:p>
            <a:endParaRPr lang="en-US" sz="3200" dirty="0"/>
          </a:p>
        </p:txBody>
      </p:sp>
      <p:sp>
        <p:nvSpPr>
          <p:cNvPr id="5" name="Text Placeholder 4">
            <a:extLst>
              <a:ext uri="{FF2B5EF4-FFF2-40B4-BE49-F238E27FC236}">
                <a16:creationId xmlns:a16="http://schemas.microsoft.com/office/drawing/2014/main" id="{2F82D444-305D-435E-8AF2-38B2C861EC16}"/>
              </a:ext>
            </a:extLst>
          </p:cNvPr>
          <p:cNvSpPr>
            <a:spLocks noGrp="1"/>
          </p:cNvSpPr>
          <p:nvPr>
            <p:ph type="body" sz="quarter" idx="12"/>
          </p:nvPr>
        </p:nvSpPr>
        <p:spPr/>
        <p:txBody>
          <a:bodyPr/>
          <a:lstStyle/>
          <a:p>
            <a:endParaRPr lang="en-US"/>
          </a:p>
        </p:txBody>
      </p:sp>
      <p:sp>
        <p:nvSpPr>
          <p:cNvPr id="6" name="Text Placeholder 5">
            <a:extLst>
              <a:ext uri="{FF2B5EF4-FFF2-40B4-BE49-F238E27FC236}">
                <a16:creationId xmlns:a16="http://schemas.microsoft.com/office/drawing/2014/main" id="{4CE74D3F-24EE-D31D-5480-D78DAE560212}"/>
              </a:ext>
            </a:extLst>
          </p:cNvPr>
          <p:cNvSpPr>
            <a:spLocks noGrp="1"/>
          </p:cNvSpPr>
          <p:nvPr>
            <p:ph type="body" sz="quarter" idx="13"/>
          </p:nvPr>
        </p:nvSpPr>
        <p:spPr/>
        <p:txBody>
          <a:bodyPr/>
          <a:lstStyle/>
          <a:p>
            <a:endParaRPr lang="en-US"/>
          </a:p>
        </p:txBody>
      </p:sp>
      <p:sp>
        <p:nvSpPr>
          <p:cNvPr id="8" name="Title 1">
            <a:extLst>
              <a:ext uri="{FF2B5EF4-FFF2-40B4-BE49-F238E27FC236}">
                <a16:creationId xmlns:a16="http://schemas.microsoft.com/office/drawing/2014/main" id="{DD1F5707-1FA2-BFC3-141D-8D37027CBDC0}"/>
              </a:ext>
            </a:extLst>
          </p:cNvPr>
          <p:cNvSpPr>
            <a:spLocks noGrp="1"/>
          </p:cNvSpPr>
          <p:nvPr>
            <p:ph type="body" sz="quarter" idx="15"/>
          </p:nvPr>
        </p:nvSpPr>
        <p:spPr>
          <a:xfrm>
            <a:off x="449468" y="1251439"/>
            <a:ext cx="8054975" cy="602762"/>
          </a:xfrm>
        </p:spPr>
        <p:txBody>
          <a:bodyPr/>
          <a:lstStyle/>
          <a:p>
            <a:r>
              <a:rPr lang="en-US" sz="2400" dirty="0" smtClean="0">
                <a:latin typeface="Times New Roman" panose="02020603050405020304" pitchFamily="18" charset="0"/>
                <a:cs typeface="Times New Roman" panose="02020603050405020304" pitchFamily="18" charset="0"/>
              </a:rPr>
              <a:t>History and Fraud Detection</a:t>
            </a:r>
            <a:endParaRPr lang="en-US" sz="2400" dirty="0">
              <a:latin typeface="Times New Roman" panose="02020603050405020304" pitchFamily="18" charset="0"/>
              <a:cs typeface="Times New Roman" panose="02020603050405020304" pitchFamily="18" charset="0"/>
            </a:endParaRPr>
          </a:p>
        </p:txBody>
      </p:sp>
      <p:pic>
        <p:nvPicPr>
          <p:cNvPr id="9" name="Image 146">
            <a:extLst>
              <a:ext uri="{FF2B5EF4-FFF2-40B4-BE49-F238E27FC236}">
                <a16:creationId xmlns:a16="http://schemas.microsoft.com/office/drawing/2014/main" id="{5E77C746-C73D-F161-23CC-4E55432E7684}"/>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49468" y="2378440"/>
            <a:ext cx="3488199" cy="3727938"/>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8904" y="1409700"/>
            <a:ext cx="5486400" cy="4574020"/>
          </a:xfrm>
          <a:prstGeom prst="rect">
            <a:avLst/>
          </a:prstGeom>
        </p:spPr>
      </p:pic>
    </p:spTree>
    <p:extLst>
      <p:ext uri="{BB962C8B-B14F-4D97-AF65-F5344CB8AC3E}">
        <p14:creationId xmlns:p14="http://schemas.microsoft.com/office/powerpoint/2010/main" val="3134104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Enhancements</a:t>
            </a:r>
            <a:endParaRPr lang="en-US" dirty="0"/>
          </a:p>
        </p:txBody>
      </p:sp>
      <p:sp>
        <p:nvSpPr>
          <p:cNvPr id="3" name="Text Placeholder 2"/>
          <p:cNvSpPr>
            <a:spLocks noGrp="1"/>
          </p:cNvSpPr>
          <p:nvPr>
            <p:ph type="body" sz="quarter" idx="10"/>
          </p:nvPr>
        </p:nvSpPr>
        <p:spPr>
          <a:xfrm>
            <a:off x="-1506332" y="996598"/>
            <a:ext cx="323896" cy="277200"/>
          </a:xfrm>
        </p:spPr>
        <p:txBody>
          <a:bodyPr/>
          <a:lstStyle/>
          <a:p>
            <a:r>
              <a:rPr lang="en-US" dirty="0" smtClean="0"/>
              <a:t>..</a:t>
            </a:r>
            <a:endParaRPr lang="en-US" dirty="0"/>
          </a:p>
        </p:txBody>
      </p:sp>
      <p:sp>
        <p:nvSpPr>
          <p:cNvPr id="4" name="Text Placeholder 3"/>
          <p:cNvSpPr>
            <a:spLocks noGrp="1"/>
          </p:cNvSpPr>
          <p:nvPr>
            <p:ph type="body" sz="quarter" idx="11"/>
          </p:nvPr>
        </p:nvSpPr>
        <p:spPr>
          <a:xfrm>
            <a:off x="376946" y="188390"/>
            <a:ext cx="9076504" cy="1107996"/>
          </a:xfrm>
        </p:spPr>
        <p:txBody>
          <a:bodyPr/>
          <a:lstStyle/>
          <a:p>
            <a:r>
              <a:rPr lang="en-US" sz="2400" dirty="0"/>
              <a:t>SMART GST – Intelligent GST Billing &amp; Fraud</a:t>
            </a:r>
          </a:p>
          <a:p>
            <a:r>
              <a:rPr lang="en-US" sz="2400" dirty="0"/>
              <a:t> Detection System</a:t>
            </a:r>
            <a:endParaRPr lang="en-US" altLang="ko-KR" sz="2400" dirty="0">
              <a:solidFill>
                <a:srgbClr val="193EB0"/>
              </a:solidFill>
            </a:endParaRPr>
          </a:p>
          <a:p>
            <a:endParaRPr lang="en-US" sz="2400" dirty="0"/>
          </a:p>
        </p:txBody>
      </p:sp>
      <p:sp>
        <p:nvSpPr>
          <p:cNvPr id="5" name="Text Placeholder 4"/>
          <p:cNvSpPr>
            <a:spLocks noGrp="1"/>
          </p:cNvSpPr>
          <p:nvPr>
            <p:ph type="body" sz="quarter" idx="12"/>
          </p:nvPr>
        </p:nvSpPr>
        <p:spPr/>
        <p:txBody>
          <a:bodyPr/>
          <a:lstStyle/>
          <a:p>
            <a:endParaRPr lang="en-US"/>
          </a:p>
        </p:txBody>
      </p:sp>
      <p:sp>
        <p:nvSpPr>
          <p:cNvPr id="6" name="Text Placeholder 5"/>
          <p:cNvSpPr>
            <a:spLocks noGrp="1"/>
          </p:cNvSpPr>
          <p:nvPr>
            <p:ph type="body" sz="quarter" idx="13"/>
          </p:nvPr>
        </p:nvSpPr>
        <p:spPr>
          <a:xfrm>
            <a:off x="8740667" y="480779"/>
            <a:ext cx="467850" cy="246221"/>
          </a:xfrm>
        </p:spPr>
        <p:txBody>
          <a:bodyPr/>
          <a:lstStyle/>
          <a:p>
            <a:endParaRPr lang="en-US" dirty="0"/>
          </a:p>
        </p:txBody>
      </p:sp>
      <p:sp>
        <p:nvSpPr>
          <p:cNvPr id="11" name="Rectangle 1"/>
          <p:cNvSpPr>
            <a:spLocks noGrp="1" noChangeArrowheads="1"/>
          </p:cNvSpPr>
          <p:nvPr>
            <p:ph type="body" sz="quarter" idx="15"/>
          </p:nvPr>
        </p:nvSpPr>
        <p:spPr bwMode="auto">
          <a:xfrm>
            <a:off x="376946" y="2229034"/>
            <a:ext cx="868622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Add AI-based product classification using HSN codes for automatic GST slab selection.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Integrate real-time GST updates from government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Implement user accounts with cloud-based history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Add multi-language voice input and </a:t>
            </a:r>
            <a:r>
              <a:rPr kumimoji="0" lang="en-US" altLang="en-US" sz="28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chatbot</a:t>
            </a: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Launch a mobile app version for faster and offline access.</a:t>
            </a:r>
          </a:p>
        </p:txBody>
      </p:sp>
    </p:spTree>
    <p:extLst>
      <p:ext uri="{BB962C8B-B14F-4D97-AF65-F5344CB8AC3E}">
        <p14:creationId xmlns:p14="http://schemas.microsoft.com/office/powerpoint/2010/main" val="3372370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0A1B0-F544-7CB1-6FED-B4BBA1E49713}"/>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5A04671-7C60-988A-9AF7-E67CD2C76373}"/>
              </a:ext>
            </a:extLst>
          </p:cNvPr>
          <p:cNvSpPr>
            <a:spLocks noGrp="1"/>
          </p:cNvSpPr>
          <p:nvPr>
            <p:ph type="title"/>
          </p:nvPr>
        </p:nvSpPr>
        <p:spPr>
          <a:xfrm>
            <a:off x="522288" y="1479980"/>
            <a:ext cx="7530823" cy="369332"/>
          </a:xfrm>
        </p:spPr>
        <p:txBody>
          <a:bodyPr/>
          <a:lstStyle/>
          <a:p>
            <a:r>
              <a:rPr lang="en-IN" altLang="ko-KR" sz="2400" dirty="0"/>
              <a:t>CONCLUSION</a:t>
            </a:r>
            <a:endParaRPr lang="ko-KR" altLang="en-US" sz="2400" dirty="0"/>
          </a:p>
        </p:txBody>
      </p:sp>
      <p:sp>
        <p:nvSpPr>
          <p:cNvPr id="14" name="제목 1">
            <a:extLst>
              <a:ext uri="{FF2B5EF4-FFF2-40B4-BE49-F238E27FC236}">
                <a16:creationId xmlns:a16="http://schemas.microsoft.com/office/drawing/2014/main" id="{29DC0601-9009-CCD7-A8F0-461F2942EDBF}"/>
              </a:ext>
            </a:extLst>
          </p:cNvPr>
          <p:cNvSpPr txBox="1">
            <a:spLocks/>
          </p:cNvSpPr>
          <p:nvPr/>
        </p:nvSpPr>
        <p:spPr>
          <a:xfrm>
            <a:off x="297462" y="89290"/>
            <a:ext cx="8541187" cy="1292662"/>
          </a:xfrm>
          <a:prstGeom prst="rect">
            <a:avLst/>
          </a:prstGeom>
          <a:noFill/>
          <a:ln w="12700" cap="flat" cmpd="sng" algn="ctr">
            <a:noFill/>
            <a:prstDash val="solid"/>
            <a:miter lim="800000"/>
          </a:ln>
          <a:effectLst/>
        </p:spPr>
        <p:txBody>
          <a:bodyPr wrap="square" lIns="0" tIns="0" rIns="0" bIns="0" rtlCol="0" anchor="t">
            <a:spAutoFit/>
            <a:scene3d>
              <a:camera prst="orthographicFront"/>
              <a:lightRig rig="threePt" dir="t"/>
            </a:scene3d>
            <a:sp3d>
              <a:bevelT w="0" h="6350"/>
            </a:sp3d>
          </a:bodyPr>
          <a:lstStyle>
            <a:lvl1pPr algn="l" defTabSz="914400" rtl="0" eaLnBrk="1" latinLnBrk="1" hangingPunct="1">
              <a:lnSpc>
                <a:spcPct val="100000"/>
              </a:lnSpc>
              <a:spcBef>
                <a:spcPts val="0"/>
              </a:spcBef>
              <a:buNone/>
              <a:defRPr lang="ko-KR" altLang="en-US" sz="3200" kern="1200">
                <a:solidFill>
                  <a:schemeClr val="tx1">
                    <a:lumMod val="95000"/>
                    <a:lumOff val="5000"/>
                  </a:schemeClr>
                </a:solidFill>
                <a:latin typeface="Samsung Sharp Sans" pitchFamily="2" charset="0"/>
                <a:ea typeface="Samsung Sharp Sans" pitchFamily="2" charset="0"/>
                <a:cs typeface="Samsung Sharp Sans" pitchFamily="2"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800" dirty="0">
                <a:solidFill>
                  <a:schemeClr val="bg1"/>
                </a:solidFill>
              </a:rPr>
              <a:t>SMART GST – Intelligent GST Billing &amp; Fraud</a:t>
            </a:r>
          </a:p>
          <a:p>
            <a:r>
              <a:rPr lang="en-US" sz="2800" dirty="0">
                <a:solidFill>
                  <a:schemeClr val="bg1"/>
                </a:solidFill>
              </a:rPr>
              <a:t> Detection System</a:t>
            </a:r>
            <a:endParaRPr lang="en-US" altLang="ko-KR" sz="2800" dirty="0">
              <a:solidFill>
                <a:schemeClr val="bg1"/>
              </a:solidFill>
            </a:endParaRPr>
          </a:p>
          <a:p>
            <a:endParaRPr lang="en-US" sz="2800" dirty="0">
              <a:solidFill>
                <a:schemeClr val="bg1"/>
              </a:solidFill>
            </a:endParaRPr>
          </a:p>
        </p:txBody>
      </p:sp>
      <p:sp>
        <p:nvSpPr>
          <p:cNvPr id="4" name="직사각형 38">
            <a:extLst>
              <a:ext uri="{FF2B5EF4-FFF2-40B4-BE49-F238E27FC236}">
                <a16:creationId xmlns:a16="http://schemas.microsoft.com/office/drawing/2014/main" id="{86D38132-53F0-8DBA-BF63-E5AC648CE3CE}"/>
              </a:ext>
            </a:extLst>
          </p:cNvPr>
          <p:cNvSpPr/>
          <p:nvPr/>
        </p:nvSpPr>
        <p:spPr>
          <a:xfrm>
            <a:off x="297462" y="1433813"/>
            <a:ext cx="67646" cy="461665"/>
          </a:xfrm>
          <a:prstGeom prst="rect">
            <a:avLst/>
          </a:prstGeom>
          <a:solidFill>
            <a:srgbClr val="193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a:bevelT w="0" h="6350"/>
            </a:sp3d>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sz="2800"/>
          </a:p>
        </p:txBody>
      </p:sp>
      <p:sp>
        <p:nvSpPr>
          <p:cNvPr id="3" name="TextBox 2">
            <a:extLst>
              <a:ext uri="{FF2B5EF4-FFF2-40B4-BE49-F238E27FC236}">
                <a16:creationId xmlns:a16="http://schemas.microsoft.com/office/drawing/2014/main" id="{1A5B8E38-810B-DDDA-53A0-2A8B5B0EAF6F}"/>
              </a:ext>
            </a:extLst>
          </p:cNvPr>
          <p:cNvSpPr txBox="1"/>
          <p:nvPr/>
        </p:nvSpPr>
        <p:spPr>
          <a:xfrm>
            <a:off x="522288" y="2234463"/>
            <a:ext cx="8507729" cy="2585323"/>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SmartGST</a:t>
            </a:r>
            <a:r>
              <a:rPr lang="en-US" dirty="0">
                <a:latin typeface="Times New Roman" panose="02020603050405020304" pitchFamily="18" charset="0"/>
                <a:cs typeface="Times New Roman" panose="02020603050405020304" pitchFamily="18" charset="0"/>
              </a:rPr>
              <a:t> provides a fast, accurate, and user-friendly solution for GST calculation and fraud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With features like voice input, invoice generation, and billing history, it simplifies day-to-day billing for users.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promotes transparency, reduces overcharging, and ensures reliable GST computation.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Overall, </a:t>
            </a:r>
            <a:r>
              <a:rPr lang="en-US" dirty="0" err="1">
                <a:latin typeface="Times New Roman" panose="02020603050405020304" pitchFamily="18" charset="0"/>
                <a:cs typeface="Times New Roman" panose="02020603050405020304" pitchFamily="18" charset="0"/>
              </a:rPr>
              <a:t>SmartGST</a:t>
            </a:r>
            <a:r>
              <a:rPr lang="en-US" dirty="0">
                <a:latin typeface="Times New Roman" panose="02020603050405020304" pitchFamily="18" charset="0"/>
                <a:cs typeface="Times New Roman" panose="02020603050405020304" pitchFamily="18" charset="0"/>
              </a:rPr>
              <a:t> is an efficient tool designed to enhance user trust and simplify tax-related calculations.</a:t>
            </a:r>
          </a:p>
          <a:p>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11CB9F8-3420-AAC4-6BA9-AF28DCF7C48F}"/>
              </a:ext>
            </a:extLst>
          </p:cNvPr>
          <p:cNvSpPr txBox="1"/>
          <p:nvPr/>
        </p:nvSpPr>
        <p:spPr>
          <a:xfrm>
            <a:off x="3216416" y="5287146"/>
            <a:ext cx="4836695" cy="646331"/>
          </a:xfrm>
          <a:prstGeom prst="rect">
            <a:avLst/>
          </a:prstGeom>
          <a:noFill/>
        </p:spPr>
        <p:txBody>
          <a:bodyPr wrap="square" rtlCol="0">
            <a:spAutoFit/>
          </a:bodyPr>
          <a:lstStyle/>
          <a:p>
            <a:r>
              <a:rPr lang="en-IN" sz="3600" dirty="0">
                <a:latin typeface="Algerian" panose="04020705040A02060702" pitchFamily="82" charset="0"/>
              </a:rPr>
              <a:t>THANK YOU !</a:t>
            </a:r>
          </a:p>
        </p:txBody>
      </p:sp>
    </p:spTree>
    <p:extLst>
      <p:ext uri="{BB962C8B-B14F-4D97-AF65-F5344CB8AC3E}">
        <p14:creationId xmlns:p14="http://schemas.microsoft.com/office/powerpoint/2010/main" val="5327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615018"/>
      </p:ext>
    </p:extLst>
  </p:cSld>
  <p:clrMapOvr>
    <a:masterClrMapping/>
  </p:clrMapOvr>
</p:sld>
</file>

<file path=ppt/theme/theme1.xml><?xml version="1.0" encoding="utf-8"?>
<a:theme xmlns:a="http://schemas.openxmlformats.org/drawingml/2006/main" name="SIC_Template_AI">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4642</TotalTime>
  <Words>884</Words>
  <Application>Microsoft Office PowerPoint</Application>
  <PresentationFormat>Custom</PresentationFormat>
  <Paragraphs>108</Paragraphs>
  <Slides>17</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17</vt:i4>
      </vt:variant>
    </vt:vector>
  </HeadingPairs>
  <TitlesOfParts>
    <vt:vector size="31" baseType="lpstr">
      <vt:lpstr>Arial Unicode MS</vt:lpstr>
      <vt:lpstr>Malgun Gothic</vt:lpstr>
      <vt:lpstr>Algerian</vt:lpstr>
      <vt:lpstr>Arial</vt:lpstr>
      <vt:lpstr>Calibri</vt:lpstr>
      <vt:lpstr>Samsung Sharp Sans</vt:lpstr>
      <vt:lpstr>Samsung Sharp Sans Bold</vt:lpstr>
      <vt:lpstr>Samsung Sharp Sans Medium</vt:lpstr>
      <vt:lpstr>Samsung Sharp Sans Regular</vt:lpstr>
      <vt:lpstr>SamsungOne 400</vt:lpstr>
      <vt:lpstr>SamsungOne 400C</vt:lpstr>
      <vt:lpstr>SamsungOne-400</vt:lpstr>
      <vt:lpstr>Times New Roman</vt:lpstr>
      <vt:lpstr>SIC_Template_AI</vt:lpstr>
      <vt:lpstr>Samsung Innovation Campus</vt:lpstr>
      <vt:lpstr>PowerPoint Presentation</vt:lpstr>
      <vt:lpstr>INTRODUCTION </vt:lpstr>
      <vt:lpstr>TEAM CONTRIBUTION</vt:lpstr>
      <vt:lpstr>PROBLEM STATEMENT​</vt:lpstr>
      <vt:lpstr>​Existing System</vt:lpstr>
      <vt:lpstr>PROPOSED SYSTEM </vt:lpstr>
      <vt:lpstr>WORKFLOW</vt:lpstr>
      <vt:lpstr>Objective/Goals :  To provide a fast and accurate GST calculation system for users. To prevent customer overcharging using an automated fraud detection module. To simplify billing with voice input, invoice generation, and easy history tracking. To make GST billing transparent, user-friendly, and error-free. To build a lightweight, efficient system using Flask APIs and a clean web UI.   </vt:lpstr>
      <vt:lpstr>PowerPoint Presentation</vt:lpstr>
      <vt:lpstr>Modules:</vt:lpstr>
      <vt:lpstr>Results</vt:lpstr>
      <vt:lpstr>PowerPoint Presentation</vt:lpstr>
      <vt:lpstr>PowerPoint Presentation</vt:lpstr>
      <vt:lpstr>Future Enhancements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in Python</dc:title>
  <dc:creator>Soon Yong Chang</dc:creator>
  <cp:lastModifiedBy>ACCOUNTS HGCL</cp:lastModifiedBy>
  <cp:revision>2078</cp:revision>
  <dcterms:created xsi:type="dcterms:W3CDTF">2019-07-06T14:12:49Z</dcterms:created>
  <dcterms:modified xsi:type="dcterms:W3CDTF">2025-11-18T22:35:46Z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